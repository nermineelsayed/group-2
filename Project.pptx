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grandir Bold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</p:embeddedFont>
    <p:embeddedFont>
      <p:font typeface="Poppins Bold" panose="00000800000000000000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jpe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12" Type="http://schemas.openxmlformats.org/officeDocument/2006/relationships/image" Target="../media/image21.jpeg"/><Relationship Id="rId17" Type="http://schemas.openxmlformats.org/officeDocument/2006/relationships/image" Target="../media/image26.svg"/><Relationship Id="rId2" Type="http://schemas.openxmlformats.org/officeDocument/2006/relationships/image" Target="../media/image5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24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20.svg"/><Relationship Id="rId14" Type="http://schemas.openxmlformats.org/officeDocument/2006/relationships/image" Target="../media/image2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8.svg"/><Relationship Id="rId7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svg"/><Relationship Id="rId10" Type="http://schemas.openxmlformats.org/officeDocument/2006/relationships/image" Target="../media/image33.sv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35.svg"/><Relationship Id="rId7" Type="http://schemas.openxmlformats.org/officeDocument/2006/relationships/image" Target="../media/image19.png"/><Relationship Id="rId12" Type="http://schemas.openxmlformats.org/officeDocument/2006/relationships/image" Target="../media/image14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13.png"/><Relationship Id="rId5" Type="http://schemas.openxmlformats.org/officeDocument/2006/relationships/image" Target="../media/image37.png"/><Relationship Id="rId10" Type="http://schemas.openxmlformats.org/officeDocument/2006/relationships/image" Target="../media/image12.svg"/><Relationship Id="rId4" Type="http://schemas.openxmlformats.org/officeDocument/2006/relationships/image" Target="../media/image3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0.svg"/><Relationship Id="rId7" Type="http://schemas.openxmlformats.org/officeDocument/2006/relationships/image" Target="../media/image29.png"/><Relationship Id="rId12" Type="http://schemas.openxmlformats.org/officeDocument/2006/relationships/image" Target="../media/image1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13.png"/><Relationship Id="rId5" Type="http://schemas.openxmlformats.org/officeDocument/2006/relationships/image" Target="../media/image42.svg"/><Relationship Id="rId10" Type="http://schemas.openxmlformats.org/officeDocument/2006/relationships/image" Target="../media/image45.sv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0.svg"/><Relationship Id="rId7" Type="http://schemas.openxmlformats.org/officeDocument/2006/relationships/image" Target="../media/image29.png"/><Relationship Id="rId12" Type="http://schemas.openxmlformats.org/officeDocument/2006/relationships/image" Target="../media/image1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13.png"/><Relationship Id="rId5" Type="http://schemas.openxmlformats.org/officeDocument/2006/relationships/image" Target="../media/image42.svg"/><Relationship Id="rId10" Type="http://schemas.openxmlformats.org/officeDocument/2006/relationships/image" Target="../media/image45.sv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0.svg"/><Relationship Id="rId7" Type="http://schemas.openxmlformats.org/officeDocument/2006/relationships/image" Target="../media/image29.png"/><Relationship Id="rId12" Type="http://schemas.openxmlformats.org/officeDocument/2006/relationships/image" Target="../media/image1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13.png"/><Relationship Id="rId5" Type="http://schemas.openxmlformats.org/officeDocument/2006/relationships/image" Target="../media/image42.svg"/><Relationship Id="rId10" Type="http://schemas.openxmlformats.org/officeDocument/2006/relationships/image" Target="../media/image45.sv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2.sv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35.svg"/><Relationship Id="rId10" Type="http://schemas.openxmlformats.org/officeDocument/2006/relationships/image" Target="../media/image53.png"/><Relationship Id="rId4" Type="http://schemas.openxmlformats.org/officeDocument/2006/relationships/image" Target="../media/image34.png"/><Relationship Id="rId9" Type="http://schemas.openxmlformats.org/officeDocument/2006/relationships/image" Target="../media/image4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2.sv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35.svg"/><Relationship Id="rId10" Type="http://schemas.openxmlformats.org/officeDocument/2006/relationships/image" Target="../media/image54.png"/><Relationship Id="rId4" Type="http://schemas.openxmlformats.org/officeDocument/2006/relationships/image" Target="../media/image34.png"/><Relationship Id="rId9" Type="http://schemas.openxmlformats.org/officeDocument/2006/relationships/image" Target="../media/image4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6.png"/><Relationship Id="rId3" Type="http://schemas.openxmlformats.org/officeDocument/2006/relationships/image" Target="../media/image52.sv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35.svg"/><Relationship Id="rId10" Type="http://schemas.openxmlformats.org/officeDocument/2006/relationships/image" Target="../media/image55.png"/><Relationship Id="rId4" Type="http://schemas.openxmlformats.org/officeDocument/2006/relationships/image" Target="../media/image34.png"/><Relationship Id="rId9" Type="http://schemas.openxmlformats.org/officeDocument/2006/relationships/image" Target="../media/image4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2.svg"/><Relationship Id="rId3" Type="http://schemas.openxmlformats.org/officeDocument/2006/relationships/image" Target="../media/image35.svg"/><Relationship Id="rId7" Type="http://schemas.openxmlformats.org/officeDocument/2006/relationships/image" Target="../media/image20.svg"/><Relationship Id="rId12" Type="http://schemas.openxmlformats.org/officeDocument/2006/relationships/image" Target="../media/image5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4.svg"/><Relationship Id="rId5" Type="http://schemas.openxmlformats.org/officeDocument/2006/relationships/image" Target="../media/image38.svg"/><Relationship Id="rId10" Type="http://schemas.openxmlformats.org/officeDocument/2006/relationships/image" Target="../media/image13.png"/><Relationship Id="rId4" Type="http://schemas.openxmlformats.org/officeDocument/2006/relationships/image" Target="../media/image37.png"/><Relationship Id="rId9" Type="http://schemas.openxmlformats.org/officeDocument/2006/relationships/image" Target="../media/image12.svg"/><Relationship Id="rId14" Type="http://schemas.openxmlformats.org/officeDocument/2006/relationships/image" Target="../media/image5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30.svg"/><Relationship Id="rId7" Type="http://schemas.openxmlformats.org/officeDocument/2006/relationships/image" Target="../media/image14.svg"/><Relationship Id="rId12" Type="http://schemas.openxmlformats.org/officeDocument/2006/relationships/image" Target="../media/image52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51.png"/><Relationship Id="rId5" Type="http://schemas.openxmlformats.org/officeDocument/2006/relationships/image" Target="../media/image12.svg"/><Relationship Id="rId10" Type="http://schemas.openxmlformats.org/officeDocument/2006/relationships/image" Target="../media/image60.svg"/><Relationship Id="rId4" Type="http://schemas.openxmlformats.org/officeDocument/2006/relationships/image" Target="../media/image11.png"/><Relationship Id="rId9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svg"/><Relationship Id="rId10" Type="http://schemas.openxmlformats.org/officeDocument/2006/relationships/image" Target="../media/image31.jpe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1036" y="1028700"/>
            <a:ext cx="13795319" cy="12762259"/>
          </a:xfrm>
          <a:custGeom>
            <a:avLst/>
            <a:gdLst/>
            <a:ahLst/>
            <a:cxnLst/>
            <a:rect l="l" t="t" r="r" b="b"/>
            <a:pathLst>
              <a:path w="13795319" h="12762259">
                <a:moveTo>
                  <a:pt x="0" y="0"/>
                </a:moveTo>
                <a:lnTo>
                  <a:pt x="13795318" y="0"/>
                </a:lnTo>
                <a:lnTo>
                  <a:pt x="13795318" y="12762259"/>
                </a:lnTo>
                <a:lnTo>
                  <a:pt x="0" y="12762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647891" y="4785586"/>
            <a:ext cx="5072616" cy="0"/>
          </a:xfrm>
          <a:prstGeom prst="line">
            <a:avLst/>
          </a:prstGeom>
          <a:ln w="66675" cap="rnd">
            <a:solidFill>
              <a:srgbClr val="00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701485" y="3370202"/>
            <a:ext cx="8289205" cy="5350305"/>
          </a:xfrm>
          <a:custGeom>
            <a:avLst/>
            <a:gdLst/>
            <a:ahLst/>
            <a:cxnLst/>
            <a:rect l="l" t="t" r="r" b="b"/>
            <a:pathLst>
              <a:path w="8289205" h="5350305">
                <a:moveTo>
                  <a:pt x="0" y="0"/>
                </a:moveTo>
                <a:lnTo>
                  <a:pt x="8289205" y="0"/>
                </a:lnTo>
                <a:lnTo>
                  <a:pt x="8289205" y="5350305"/>
                </a:lnTo>
                <a:lnTo>
                  <a:pt x="0" y="5350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287559" y="4696854"/>
            <a:ext cx="7613739" cy="5628697"/>
          </a:xfrm>
          <a:custGeom>
            <a:avLst/>
            <a:gdLst/>
            <a:ahLst/>
            <a:cxnLst/>
            <a:rect l="l" t="t" r="r" b="b"/>
            <a:pathLst>
              <a:path w="7613739" h="5628697">
                <a:moveTo>
                  <a:pt x="0" y="5628697"/>
                </a:moveTo>
                <a:lnTo>
                  <a:pt x="7613739" y="5628697"/>
                </a:lnTo>
                <a:lnTo>
                  <a:pt x="7613739" y="0"/>
                </a:lnTo>
                <a:lnTo>
                  <a:pt x="0" y="0"/>
                </a:lnTo>
                <a:lnTo>
                  <a:pt x="0" y="562869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338535">
            <a:off x="14100050" y="-508789"/>
            <a:ext cx="3883552" cy="4546345"/>
          </a:xfrm>
          <a:custGeom>
            <a:avLst/>
            <a:gdLst/>
            <a:ahLst/>
            <a:cxnLst/>
            <a:rect l="l" t="t" r="r" b="b"/>
            <a:pathLst>
              <a:path w="3883552" h="4546345">
                <a:moveTo>
                  <a:pt x="0" y="0"/>
                </a:moveTo>
                <a:lnTo>
                  <a:pt x="3883552" y="0"/>
                </a:lnTo>
                <a:lnTo>
                  <a:pt x="3883552" y="4546345"/>
                </a:lnTo>
                <a:lnTo>
                  <a:pt x="0" y="4546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54862">
            <a:off x="231407" y="6088691"/>
            <a:ext cx="6247553" cy="4430083"/>
          </a:xfrm>
          <a:custGeom>
            <a:avLst/>
            <a:gdLst/>
            <a:ahLst/>
            <a:cxnLst/>
            <a:rect l="l" t="t" r="r" b="b"/>
            <a:pathLst>
              <a:path w="6247553" h="4430083">
                <a:moveTo>
                  <a:pt x="0" y="0"/>
                </a:moveTo>
                <a:lnTo>
                  <a:pt x="6247553" y="0"/>
                </a:lnTo>
                <a:lnTo>
                  <a:pt x="6247553" y="4430083"/>
                </a:lnTo>
                <a:lnTo>
                  <a:pt x="0" y="44300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7297856">
            <a:off x="13363366" y="-1446338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938244">
            <a:off x="8247460" y="1764384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5" y="0"/>
                </a:lnTo>
                <a:lnTo>
                  <a:pt x="454025" y="439166"/>
                </a:lnTo>
                <a:lnTo>
                  <a:pt x="0" y="4391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974288">
            <a:off x="577890" y="3613151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418559" y="6698809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47891" y="2322103"/>
            <a:ext cx="6548783" cy="208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1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Manufacturing Productivity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575953" y="519328"/>
            <a:ext cx="341666" cy="34166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49601" y="2862712"/>
            <a:ext cx="141811" cy="14181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2396" y="790089"/>
            <a:ext cx="141811" cy="14181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299931" y="4364254"/>
            <a:ext cx="260405" cy="26040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 rot="-728279">
            <a:off x="9563651" y="3916857"/>
            <a:ext cx="916891" cy="813532"/>
          </a:xfrm>
          <a:custGeom>
            <a:avLst/>
            <a:gdLst/>
            <a:ahLst/>
            <a:cxnLst/>
            <a:rect l="l" t="t" r="r" b="b"/>
            <a:pathLst>
              <a:path w="916891" h="813532">
                <a:moveTo>
                  <a:pt x="0" y="0"/>
                </a:moveTo>
                <a:lnTo>
                  <a:pt x="916891" y="0"/>
                </a:lnTo>
                <a:lnTo>
                  <a:pt x="916891" y="813532"/>
                </a:lnTo>
                <a:lnTo>
                  <a:pt x="0" y="8135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7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647891" y="5157286"/>
            <a:ext cx="4967996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Analyzing factory efficiency.</a:t>
            </a: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287559" y="4696854"/>
            <a:ext cx="7613739" cy="5628697"/>
          </a:xfrm>
          <a:custGeom>
            <a:avLst/>
            <a:gdLst/>
            <a:ahLst/>
            <a:cxnLst/>
            <a:rect l="l" t="t" r="r" b="b"/>
            <a:pathLst>
              <a:path w="7613739" h="5628697">
                <a:moveTo>
                  <a:pt x="0" y="5628697"/>
                </a:moveTo>
                <a:lnTo>
                  <a:pt x="7613739" y="5628697"/>
                </a:lnTo>
                <a:lnTo>
                  <a:pt x="7613739" y="0"/>
                </a:lnTo>
                <a:lnTo>
                  <a:pt x="0" y="0"/>
                </a:lnTo>
                <a:lnTo>
                  <a:pt x="0" y="56286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338535">
            <a:off x="14100050" y="-508789"/>
            <a:ext cx="3883552" cy="4546345"/>
          </a:xfrm>
          <a:custGeom>
            <a:avLst/>
            <a:gdLst/>
            <a:ahLst/>
            <a:cxnLst/>
            <a:rect l="l" t="t" r="r" b="b"/>
            <a:pathLst>
              <a:path w="3883552" h="4546345">
                <a:moveTo>
                  <a:pt x="0" y="0"/>
                </a:moveTo>
                <a:lnTo>
                  <a:pt x="3883552" y="0"/>
                </a:lnTo>
                <a:lnTo>
                  <a:pt x="3883552" y="4546345"/>
                </a:lnTo>
                <a:lnTo>
                  <a:pt x="0" y="4546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70863" y="6056608"/>
            <a:ext cx="2513769" cy="4114800"/>
          </a:xfrm>
          <a:custGeom>
            <a:avLst/>
            <a:gdLst/>
            <a:ahLst/>
            <a:cxnLst/>
            <a:rect l="l" t="t" r="r" b="b"/>
            <a:pathLst>
              <a:path w="2513769" h="4114800">
                <a:moveTo>
                  <a:pt x="0" y="0"/>
                </a:moveTo>
                <a:lnTo>
                  <a:pt x="2513769" y="0"/>
                </a:lnTo>
                <a:lnTo>
                  <a:pt x="2513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541408">
            <a:off x="14552914" y="-90482"/>
            <a:ext cx="4109152" cy="3167783"/>
          </a:xfrm>
          <a:custGeom>
            <a:avLst/>
            <a:gdLst/>
            <a:ahLst/>
            <a:cxnLst/>
            <a:rect l="l" t="t" r="r" b="b"/>
            <a:pathLst>
              <a:path w="4109152" h="3167783">
                <a:moveTo>
                  <a:pt x="0" y="0"/>
                </a:moveTo>
                <a:lnTo>
                  <a:pt x="4109152" y="0"/>
                </a:lnTo>
                <a:lnTo>
                  <a:pt x="4109152" y="3167783"/>
                </a:lnTo>
                <a:lnTo>
                  <a:pt x="0" y="31677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36728" y="914400"/>
            <a:ext cx="12596303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80"/>
              </a:lnSpc>
              <a:spcBef>
                <a:spcPct val="0"/>
              </a:spcBef>
            </a:pPr>
            <a:r>
              <a:rPr lang="en-US" sz="6800" b="1" u="none" strike="noStrike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Team</a:t>
            </a:r>
          </a:p>
        </p:txBody>
      </p:sp>
      <p:sp>
        <p:nvSpPr>
          <p:cNvPr id="7" name="Freeform 7"/>
          <p:cNvSpPr/>
          <p:nvPr/>
        </p:nvSpPr>
        <p:spPr>
          <a:xfrm rot="-974288">
            <a:off x="9018588" y="9288530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582633" y="9631010"/>
            <a:ext cx="141811" cy="14181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29098" y="1363207"/>
            <a:ext cx="260405" cy="26040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267473" y="582828"/>
            <a:ext cx="141811" cy="14181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974288">
            <a:off x="11677563" y="1090363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3" y="0"/>
                </a:lnTo>
                <a:lnTo>
                  <a:pt x="250823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6172549" y="511923"/>
            <a:ext cx="141811" cy="14181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6022" y="2353185"/>
            <a:ext cx="3770195" cy="4206499"/>
            <a:chOff x="0" y="0"/>
            <a:chExt cx="1005670" cy="1122050"/>
          </a:xfrm>
        </p:grpSpPr>
        <p:sp>
          <p:nvSpPr>
            <p:cNvPr id="22" name="Freeform 22"/>
            <p:cNvSpPr/>
            <p:nvPr/>
          </p:nvSpPr>
          <p:spPr>
            <a:xfrm>
              <a:off x="31422" y="36683"/>
              <a:ext cx="942825" cy="1048685"/>
            </a:xfrm>
            <a:custGeom>
              <a:avLst/>
              <a:gdLst/>
              <a:ahLst/>
              <a:cxnLst/>
              <a:rect l="l" t="t" r="r" b="b"/>
              <a:pathLst>
                <a:path w="942825" h="1048685">
                  <a:moveTo>
                    <a:pt x="526235" y="24483"/>
                  </a:moveTo>
                  <a:lnTo>
                    <a:pt x="919426" y="463176"/>
                  </a:lnTo>
                  <a:cubicBezTo>
                    <a:pt x="950625" y="497986"/>
                    <a:pt x="950625" y="550698"/>
                    <a:pt x="919426" y="585508"/>
                  </a:cubicBezTo>
                  <a:lnTo>
                    <a:pt x="526235" y="1024202"/>
                  </a:lnTo>
                  <a:cubicBezTo>
                    <a:pt x="512270" y="1039782"/>
                    <a:pt x="492336" y="1048685"/>
                    <a:pt x="471413" y="1048685"/>
                  </a:cubicBezTo>
                  <a:cubicBezTo>
                    <a:pt x="450490" y="1048685"/>
                    <a:pt x="430556" y="1039782"/>
                    <a:pt x="416591" y="1024202"/>
                  </a:cubicBezTo>
                  <a:lnTo>
                    <a:pt x="23400" y="585508"/>
                  </a:lnTo>
                  <a:cubicBezTo>
                    <a:pt x="-7799" y="550698"/>
                    <a:pt x="-7799" y="497986"/>
                    <a:pt x="23400" y="463176"/>
                  </a:cubicBezTo>
                  <a:lnTo>
                    <a:pt x="416591" y="24483"/>
                  </a:lnTo>
                  <a:cubicBezTo>
                    <a:pt x="430556" y="8902"/>
                    <a:pt x="450490" y="0"/>
                    <a:pt x="471413" y="0"/>
                  </a:cubicBezTo>
                  <a:cubicBezTo>
                    <a:pt x="492336" y="0"/>
                    <a:pt x="512270" y="8902"/>
                    <a:pt x="526235" y="24483"/>
                  </a:cubicBezTo>
                  <a:close/>
                </a:path>
              </a:pathLst>
            </a:custGeom>
            <a:solidFill>
              <a:srgbClr val="A3BCF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72849" y="154752"/>
              <a:ext cx="659971" cy="774446"/>
            </a:xfrm>
            <a:prstGeom prst="rect">
              <a:avLst/>
            </a:prstGeom>
          </p:spPr>
          <p:txBody>
            <a:bodyPr lIns="12476" tIns="12476" rIns="12476" bIns="12476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37910" y="2570379"/>
            <a:ext cx="3066418" cy="3772111"/>
            <a:chOff x="0" y="0"/>
            <a:chExt cx="908199" cy="1117208"/>
          </a:xfrm>
        </p:grpSpPr>
        <p:sp>
          <p:nvSpPr>
            <p:cNvPr id="25" name="Freeform 25"/>
            <p:cNvSpPr/>
            <p:nvPr/>
          </p:nvSpPr>
          <p:spPr>
            <a:xfrm>
              <a:off x="26902" y="36039"/>
              <a:ext cx="854394" cy="1045129"/>
            </a:xfrm>
            <a:custGeom>
              <a:avLst/>
              <a:gdLst/>
              <a:ahLst/>
              <a:cxnLst/>
              <a:rect l="l" t="t" r="r" b="b"/>
              <a:pathLst>
                <a:path w="854394" h="1045129">
                  <a:moveTo>
                    <a:pt x="474975" y="22734"/>
                  </a:moveTo>
                  <a:lnTo>
                    <a:pt x="833519" y="463792"/>
                  </a:lnTo>
                  <a:cubicBezTo>
                    <a:pt x="861353" y="498031"/>
                    <a:pt x="861353" y="547099"/>
                    <a:pt x="833519" y="581338"/>
                  </a:cubicBezTo>
                  <a:lnTo>
                    <a:pt x="474975" y="1022396"/>
                  </a:lnTo>
                  <a:cubicBezTo>
                    <a:pt x="463283" y="1036779"/>
                    <a:pt x="445733" y="1045129"/>
                    <a:pt x="427197" y="1045129"/>
                  </a:cubicBezTo>
                  <a:cubicBezTo>
                    <a:pt x="408662" y="1045129"/>
                    <a:pt x="391112" y="1036779"/>
                    <a:pt x="379420" y="1022396"/>
                  </a:cubicBezTo>
                  <a:lnTo>
                    <a:pt x="20875" y="581338"/>
                  </a:lnTo>
                  <a:cubicBezTo>
                    <a:pt x="-6958" y="547099"/>
                    <a:pt x="-6958" y="498031"/>
                    <a:pt x="20875" y="463792"/>
                  </a:cubicBezTo>
                  <a:lnTo>
                    <a:pt x="379420" y="22734"/>
                  </a:lnTo>
                  <a:cubicBezTo>
                    <a:pt x="391112" y="8351"/>
                    <a:pt x="408662" y="0"/>
                    <a:pt x="427197" y="0"/>
                  </a:cubicBezTo>
                  <a:cubicBezTo>
                    <a:pt x="445733" y="0"/>
                    <a:pt x="463283" y="8351"/>
                    <a:pt x="474975" y="22734"/>
                  </a:cubicBezTo>
                  <a:close/>
                </a:path>
              </a:pathLst>
            </a:custGeom>
            <a:blipFill>
              <a:blip r:embed="rId12"/>
              <a:stretch>
                <a:fillRect l="-9774" t="404" r="-9774" b="40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064684" y="2353185"/>
            <a:ext cx="3770195" cy="4206499"/>
            <a:chOff x="0" y="0"/>
            <a:chExt cx="1005670" cy="1122050"/>
          </a:xfrm>
        </p:grpSpPr>
        <p:sp>
          <p:nvSpPr>
            <p:cNvPr id="27" name="Freeform 27"/>
            <p:cNvSpPr/>
            <p:nvPr/>
          </p:nvSpPr>
          <p:spPr>
            <a:xfrm>
              <a:off x="31422" y="36683"/>
              <a:ext cx="942825" cy="1048685"/>
            </a:xfrm>
            <a:custGeom>
              <a:avLst/>
              <a:gdLst/>
              <a:ahLst/>
              <a:cxnLst/>
              <a:rect l="l" t="t" r="r" b="b"/>
              <a:pathLst>
                <a:path w="942825" h="1048685">
                  <a:moveTo>
                    <a:pt x="526235" y="24483"/>
                  </a:moveTo>
                  <a:lnTo>
                    <a:pt x="919426" y="463176"/>
                  </a:lnTo>
                  <a:cubicBezTo>
                    <a:pt x="950625" y="497986"/>
                    <a:pt x="950625" y="550698"/>
                    <a:pt x="919426" y="585508"/>
                  </a:cubicBezTo>
                  <a:lnTo>
                    <a:pt x="526235" y="1024202"/>
                  </a:lnTo>
                  <a:cubicBezTo>
                    <a:pt x="512270" y="1039782"/>
                    <a:pt x="492336" y="1048685"/>
                    <a:pt x="471413" y="1048685"/>
                  </a:cubicBezTo>
                  <a:cubicBezTo>
                    <a:pt x="450490" y="1048685"/>
                    <a:pt x="430556" y="1039782"/>
                    <a:pt x="416591" y="1024202"/>
                  </a:cubicBezTo>
                  <a:lnTo>
                    <a:pt x="23400" y="585508"/>
                  </a:lnTo>
                  <a:cubicBezTo>
                    <a:pt x="-7799" y="550698"/>
                    <a:pt x="-7799" y="497986"/>
                    <a:pt x="23400" y="463176"/>
                  </a:cubicBezTo>
                  <a:lnTo>
                    <a:pt x="416591" y="24483"/>
                  </a:lnTo>
                  <a:cubicBezTo>
                    <a:pt x="430556" y="8902"/>
                    <a:pt x="450490" y="0"/>
                    <a:pt x="471413" y="0"/>
                  </a:cubicBezTo>
                  <a:cubicBezTo>
                    <a:pt x="492336" y="0"/>
                    <a:pt x="512270" y="8902"/>
                    <a:pt x="526235" y="24483"/>
                  </a:cubicBezTo>
                  <a:close/>
                </a:path>
              </a:pathLst>
            </a:custGeom>
            <a:solidFill>
              <a:srgbClr val="A3BCF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72849" y="154752"/>
              <a:ext cx="659971" cy="774446"/>
            </a:xfrm>
            <a:prstGeom prst="rect">
              <a:avLst/>
            </a:prstGeom>
          </p:spPr>
          <p:txBody>
            <a:bodyPr lIns="12476" tIns="12476" rIns="12476" bIns="12476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44479" y="2353185"/>
            <a:ext cx="3770195" cy="4206499"/>
            <a:chOff x="0" y="0"/>
            <a:chExt cx="1005670" cy="1122050"/>
          </a:xfrm>
        </p:grpSpPr>
        <p:sp>
          <p:nvSpPr>
            <p:cNvPr id="30" name="Freeform 30"/>
            <p:cNvSpPr/>
            <p:nvPr/>
          </p:nvSpPr>
          <p:spPr>
            <a:xfrm>
              <a:off x="31422" y="36683"/>
              <a:ext cx="942825" cy="1048685"/>
            </a:xfrm>
            <a:custGeom>
              <a:avLst/>
              <a:gdLst/>
              <a:ahLst/>
              <a:cxnLst/>
              <a:rect l="l" t="t" r="r" b="b"/>
              <a:pathLst>
                <a:path w="942825" h="1048685">
                  <a:moveTo>
                    <a:pt x="526235" y="24483"/>
                  </a:moveTo>
                  <a:lnTo>
                    <a:pt x="919426" y="463176"/>
                  </a:lnTo>
                  <a:cubicBezTo>
                    <a:pt x="950625" y="497986"/>
                    <a:pt x="950625" y="550698"/>
                    <a:pt x="919426" y="585508"/>
                  </a:cubicBezTo>
                  <a:lnTo>
                    <a:pt x="526235" y="1024202"/>
                  </a:lnTo>
                  <a:cubicBezTo>
                    <a:pt x="512270" y="1039782"/>
                    <a:pt x="492336" y="1048685"/>
                    <a:pt x="471413" y="1048685"/>
                  </a:cubicBezTo>
                  <a:cubicBezTo>
                    <a:pt x="450490" y="1048685"/>
                    <a:pt x="430556" y="1039782"/>
                    <a:pt x="416591" y="1024202"/>
                  </a:cubicBezTo>
                  <a:lnTo>
                    <a:pt x="23400" y="585508"/>
                  </a:lnTo>
                  <a:cubicBezTo>
                    <a:pt x="-7799" y="550698"/>
                    <a:pt x="-7799" y="497986"/>
                    <a:pt x="23400" y="463176"/>
                  </a:cubicBezTo>
                  <a:lnTo>
                    <a:pt x="416591" y="24483"/>
                  </a:lnTo>
                  <a:cubicBezTo>
                    <a:pt x="430556" y="8902"/>
                    <a:pt x="450490" y="0"/>
                    <a:pt x="471413" y="0"/>
                  </a:cubicBezTo>
                  <a:cubicBezTo>
                    <a:pt x="492336" y="0"/>
                    <a:pt x="512270" y="8902"/>
                    <a:pt x="526235" y="24483"/>
                  </a:cubicBezTo>
                  <a:close/>
                </a:path>
              </a:pathLst>
            </a:custGeom>
            <a:solidFill>
              <a:srgbClr val="A3BCF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172849" y="154752"/>
              <a:ext cx="659971" cy="774446"/>
            </a:xfrm>
            <a:prstGeom prst="rect">
              <a:avLst/>
            </a:prstGeom>
          </p:spPr>
          <p:txBody>
            <a:bodyPr lIns="12476" tIns="12476" rIns="12476" bIns="12476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824274" y="2353185"/>
            <a:ext cx="3770195" cy="4206499"/>
            <a:chOff x="0" y="0"/>
            <a:chExt cx="1005670" cy="1122050"/>
          </a:xfrm>
        </p:grpSpPr>
        <p:sp>
          <p:nvSpPr>
            <p:cNvPr id="33" name="Freeform 33"/>
            <p:cNvSpPr/>
            <p:nvPr/>
          </p:nvSpPr>
          <p:spPr>
            <a:xfrm>
              <a:off x="31422" y="36683"/>
              <a:ext cx="942825" cy="1048685"/>
            </a:xfrm>
            <a:custGeom>
              <a:avLst/>
              <a:gdLst/>
              <a:ahLst/>
              <a:cxnLst/>
              <a:rect l="l" t="t" r="r" b="b"/>
              <a:pathLst>
                <a:path w="942825" h="1048685">
                  <a:moveTo>
                    <a:pt x="526235" y="24483"/>
                  </a:moveTo>
                  <a:lnTo>
                    <a:pt x="919426" y="463176"/>
                  </a:lnTo>
                  <a:cubicBezTo>
                    <a:pt x="950625" y="497986"/>
                    <a:pt x="950625" y="550698"/>
                    <a:pt x="919426" y="585508"/>
                  </a:cubicBezTo>
                  <a:lnTo>
                    <a:pt x="526235" y="1024202"/>
                  </a:lnTo>
                  <a:cubicBezTo>
                    <a:pt x="512270" y="1039782"/>
                    <a:pt x="492336" y="1048685"/>
                    <a:pt x="471413" y="1048685"/>
                  </a:cubicBezTo>
                  <a:cubicBezTo>
                    <a:pt x="450490" y="1048685"/>
                    <a:pt x="430556" y="1039782"/>
                    <a:pt x="416591" y="1024202"/>
                  </a:cubicBezTo>
                  <a:lnTo>
                    <a:pt x="23400" y="585508"/>
                  </a:lnTo>
                  <a:cubicBezTo>
                    <a:pt x="-7799" y="550698"/>
                    <a:pt x="-7799" y="497986"/>
                    <a:pt x="23400" y="463176"/>
                  </a:cubicBezTo>
                  <a:lnTo>
                    <a:pt x="416591" y="24483"/>
                  </a:lnTo>
                  <a:cubicBezTo>
                    <a:pt x="430556" y="8902"/>
                    <a:pt x="450490" y="0"/>
                    <a:pt x="471413" y="0"/>
                  </a:cubicBezTo>
                  <a:cubicBezTo>
                    <a:pt x="492336" y="0"/>
                    <a:pt x="512270" y="8902"/>
                    <a:pt x="526235" y="24483"/>
                  </a:cubicBezTo>
                  <a:close/>
                </a:path>
              </a:pathLst>
            </a:custGeom>
            <a:solidFill>
              <a:srgbClr val="A3BCF9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172849" y="154752"/>
              <a:ext cx="659971" cy="774446"/>
            </a:xfrm>
            <a:prstGeom prst="rect">
              <a:avLst/>
            </a:prstGeom>
          </p:spPr>
          <p:txBody>
            <a:bodyPr lIns="12476" tIns="12476" rIns="12476" bIns="12476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417139" y="2570379"/>
            <a:ext cx="3066418" cy="3772111"/>
            <a:chOff x="0" y="0"/>
            <a:chExt cx="908199" cy="1117208"/>
          </a:xfrm>
        </p:grpSpPr>
        <p:sp>
          <p:nvSpPr>
            <p:cNvPr id="36" name="Freeform 36"/>
            <p:cNvSpPr/>
            <p:nvPr/>
          </p:nvSpPr>
          <p:spPr>
            <a:xfrm>
              <a:off x="26902" y="36039"/>
              <a:ext cx="854394" cy="1045129"/>
            </a:xfrm>
            <a:custGeom>
              <a:avLst/>
              <a:gdLst/>
              <a:ahLst/>
              <a:cxnLst/>
              <a:rect l="l" t="t" r="r" b="b"/>
              <a:pathLst>
                <a:path w="854394" h="1045129">
                  <a:moveTo>
                    <a:pt x="474975" y="22734"/>
                  </a:moveTo>
                  <a:lnTo>
                    <a:pt x="833519" y="463792"/>
                  </a:lnTo>
                  <a:cubicBezTo>
                    <a:pt x="861353" y="498031"/>
                    <a:pt x="861353" y="547099"/>
                    <a:pt x="833519" y="581338"/>
                  </a:cubicBezTo>
                  <a:lnTo>
                    <a:pt x="474975" y="1022396"/>
                  </a:lnTo>
                  <a:cubicBezTo>
                    <a:pt x="463283" y="1036779"/>
                    <a:pt x="445733" y="1045129"/>
                    <a:pt x="427197" y="1045129"/>
                  </a:cubicBezTo>
                  <a:cubicBezTo>
                    <a:pt x="408662" y="1045129"/>
                    <a:pt x="391112" y="1036779"/>
                    <a:pt x="379420" y="1022396"/>
                  </a:cubicBezTo>
                  <a:lnTo>
                    <a:pt x="20875" y="581338"/>
                  </a:lnTo>
                  <a:cubicBezTo>
                    <a:pt x="-6958" y="547099"/>
                    <a:pt x="-6958" y="498031"/>
                    <a:pt x="20875" y="463792"/>
                  </a:cubicBezTo>
                  <a:lnTo>
                    <a:pt x="379420" y="22734"/>
                  </a:lnTo>
                  <a:cubicBezTo>
                    <a:pt x="391112" y="8351"/>
                    <a:pt x="408662" y="0"/>
                    <a:pt x="427197" y="0"/>
                  </a:cubicBezTo>
                  <a:cubicBezTo>
                    <a:pt x="445733" y="0"/>
                    <a:pt x="463283" y="8351"/>
                    <a:pt x="474975" y="22734"/>
                  </a:cubicBezTo>
                  <a:close/>
                </a:path>
              </a:pathLst>
            </a:custGeom>
            <a:blipFill>
              <a:blip r:embed="rId13"/>
              <a:stretch>
                <a:fillRect l="-18147" t="404" r="-18147" b="404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796904" y="2570379"/>
            <a:ext cx="3066418" cy="3772111"/>
            <a:chOff x="0" y="0"/>
            <a:chExt cx="908199" cy="1117208"/>
          </a:xfrm>
        </p:grpSpPr>
        <p:sp>
          <p:nvSpPr>
            <p:cNvPr id="38" name="Freeform 38"/>
            <p:cNvSpPr/>
            <p:nvPr/>
          </p:nvSpPr>
          <p:spPr>
            <a:xfrm>
              <a:off x="26902" y="36039"/>
              <a:ext cx="854394" cy="1045129"/>
            </a:xfrm>
            <a:custGeom>
              <a:avLst/>
              <a:gdLst/>
              <a:ahLst/>
              <a:cxnLst/>
              <a:rect l="l" t="t" r="r" b="b"/>
              <a:pathLst>
                <a:path w="854394" h="1045129">
                  <a:moveTo>
                    <a:pt x="474975" y="22734"/>
                  </a:moveTo>
                  <a:lnTo>
                    <a:pt x="833519" y="463792"/>
                  </a:lnTo>
                  <a:cubicBezTo>
                    <a:pt x="861353" y="498031"/>
                    <a:pt x="861353" y="547099"/>
                    <a:pt x="833519" y="581338"/>
                  </a:cubicBezTo>
                  <a:lnTo>
                    <a:pt x="474975" y="1022396"/>
                  </a:lnTo>
                  <a:cubicBezTo>
                    <a:pt x="463283" y="1036779"/>
                    <a:pt x="445733" y="1045129"/>
                    <a:pt x="427197" y="1045129"/>
                  </a:cubicBezTo>
                  <a:cubicBezTo>
                    <a:pt x="408662" y="1045129"/>
                    <a:pt x="391112" y="1036779"/>
                    <a:pt x="379420" y="1022396"/>
                  </a:cubicBezTo>
                  <a:lnTo>
                    <a:pt x="20875" y="581338"/>
                  </a:lnTo>
                  <a:cubicBezTo>
                    <a:pt x="-6958" y="547099"/>
                    <a:pt x="-6958" y="498031"/>
                    <a:pt x="20875" y="463792"/>
                  </a:cubicBezTo>
                  <a:lnTo>
                    <a:pt x="379420" y="22734"/>
                  </a:lnTo>
                  <a:cubicBezTo>
                    <a:pt x="391112" y="8351"/>
                    <a:pt x="408662" y="0"/>
                    <a:pt x="427197" y="0"/>
                  </a:cubicBezTo>
                  <a:cubicBezTo>
                    <a:pt x="445733" y="0"/>
                    <a:pt x="463283" y="8351"/>
                    <a:pt x="474975" y="22734"/>
                  </a:cubicBezTo>
                  <a:close/>
                </a:path>
              </a:pathLst>
            </a:custGeom>
            <a:blipFill>
              <a:blip r:embed="rId14"/>
              <a:stretch>
                <a:fillRect l="369" t="-8876" r="369" b="-8876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4192882" y="2570379"/>
            <a:ext cx="3066418" cy="3772111"/>
            <a:chOff x="0" y="0"/>
            <a:chExt cx="908199" cy="1117208"/>
          </a:xfrm>
        </p:grpSpPr>
        <p:sp>
          <p:nvSpPr>
            <p:cNvPr id="40" name="Freeform 40"/>
            <p:cNvSpPr/>
            <p:nvPr/>
          </p:nvSpPr>
          <p:spPr>
            <a:xfrm>
              <a:off x="26902" y="36039"/>
              <a:ext cx="854394" cy="1045129"/>
            </a:xfrm>
            <a:custGeom>
              <a:avLst/>
              <a:gdLst/>
              <a:ahLst/>
              <a:cxnLst/>
              <a:rect l="l" t="t" r="r" b="b"/>
              <a:pathLst>
                <a:path w="854394" h="1045129">
                  <a:moveTo>
                    <a:pt x="474975" y="22734"/>
                  </a:moveTo>
                  <a:lnTo>
                    <a:pt x="833519" y="463792"/>
                  </a:lnTo>
                  <a:cubicBezTo>
                    <a:pt x="861353" y="498031"/>
                    <a:pt x="861353" y="547099"/>
                    <a:pt x="833519" y="581338"/>
                  </a:cubicBezTo>
                  <a:lnTo>
                    <a:pt x="474975" y="1022396"/>
                  </a:lnTo>
                  <a:cubicBezTo>
                    <a:pt x="463283" y="1036779"/>
                    <a:pt x="445733" y="1045129"/>
                    <a:pt x="427197" y="1045129"/>
                  </a:cubicBezTo>
                  <a:cubicBezTo>
                    <a:pt x="408662" y="1045129"/>
                    <a:pt x="391112" y="1036779"/>
                    <a:pt x="379420" y="1022396"/>
                  </a:cubicBezTo>
                  <a:lnTo>
                    <a:pt x="20875" y="581338"/>
                  </a:lnTo>
                  <a:cubicBezTo>
                    <a:pt x="-6958" y="547099"/>
                    <a:pt x="-6958" y="498031"/>
                    <a:pt x="20875" y="463792"/>
                  </a:cubicBezTo>
                  <a:lnTo>
                    <a:pt x="379420" y="22734"/>
                  </a:lnTo>
                  <a:cubicBezTo>
                    <a:pt x="391112" y="8351"/>
                    <a:pt x="408662" y="0"/>
                    <a:pt x="427197" y="0"/>
                  </a:cubicBezTo>
                  <a:cubicBezTo>
                    <a:pt x="445733" y="0"/>
                    <a:pt x="463283" y="8351"/>
                    <a:pt x="474975" y="22734"/>
                  </a:cubicBezTo>
                  <a:close/>
                </a:path>
              </a:pathLst>
            </a:custGeom>
            <a:blipFill>
              <a:blip r:embed="rId15"/>
              <a:stretch>
                <a:fillRect l="369" t="-5322" r="369" b="-5322"/>
              </a:stretch>
            </a:blipFill>
          </p:spPr>
        </p:sp>
      </p:grpSp>
      <p:sp>
        <p:nvSpPr>
          <p:cNvPr id="41" name="Freeform 41"/>
          <p:cNvSpPr/>
          <p:nvPr/>
        </p:nvSpPr>
        <p:spPr>
          <a:xfrm>
            <a:off x="1645812" y="7857747"/>
            <a:ext cx="3418873" cy="2467804"/>
          </a:xfrm>
          <a:custGeom>
            <a:avLst/>
            <a:gdLst/>
            <a:ahLst/>
            <a:cxnLst/>
            <a:rect l="l" t="t" r="r" b="b"/>
            <a:pathLst>
              <a:path w="3418873" h="2467804">
                <a:moveTo>
                  <a:pt x="0" y="0"/>
                </a:moveTo>
                <a:lnTo>
                  <a:pt x="3418872" y="0"/>
                </a:lnTo>
                <a:lnTo>
                  <a:pt x="3418872" y="2467804"/>
                </a:lnTo>
                <a:lnTo>
                  <a:pt x="0" y="246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TextBox 42"/>
          <p:cNvSpPr txBox="1"/>
          <p:nvPr/>
        </p:nvSpPr>
        <p:spPr>
          <a:xfrm>
            <a:off x="872739" y="6714379"/>
            <a:ext cx="339676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Nermine Elsayed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64684" y="6714379"/>
            <a:ext cx="377019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Hanan Abdulrazeq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072207" y="6714379"/>
            <a:ext cx="377019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Eman Maher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517805" y="6714379"/>
            <a:ext cx="377019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Sara Farouk</a:t>
            </a:r>
          </a:p>
        </p:txBody>
      </p:sp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85419" y="6383486"/>
            <a:ext cx="8969223" cy="7583070"/>
          </a:xfrm>
          <a:custGeom>
            <a:avLst/>
            <a:gdLst/>
            <a:ahLst/>
            <a:cxnLst/>
            <a:rect l="l" t="t" r="r" b="b"/>
            <a:pathLst>
              <a:path w="8969223" h="7583070">
                <a:moveTo>
                  <a:pt x="0" y="0"/>
                </a:moveTo>
                <a:lnTo>
                  <a:pt x="8969223" y="0"/>
                </a:lnTo>
                <a:lnTo>
                  <a:pt x="8969223" y="7583070"/>
                </a:lnTo>
                <a:lnTo>
                  <a:pt x="0" y="7583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-353598" y="4466663"/>
            <a:ext cx="6173936" cy="5466739"/>
          </a:xfrm>
          <a:custGeom>
            <a:avLst/>
            <a:gdLst/>
            <a:ahLst/>
            <a:cxnLst/>
            <a:rect l="l" t="t" r="r" b="b"/>
            <a:pathLst>
              <a:path w="6173936" h="5466739">
                <a:moveTo>
                  <a:pt x="6173935" y="5466739"/>
                </a:moveTo>
                <a:lnTo>
                  <a:pt x="0" y="5466739"/>
                </a:lnTo>
                <a:lnTo>
                  <a:pt x="0" y="0"/>
                </a:lnTo>
                <a:lnTo>
                  <a:pt x="6173935" y="0"/>
                </a:lnTo>
                <a:lnTo>
                  <a:pt x="6173935" y="54667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937923" y="1263557"/>
            <a:ext cx="7041302" cy="7759885"/>
            <a:chOff x="0" y="0"/>
            <a:chExt cx="1069836" cy="11790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9836" cy="1179016"/>
            </a:xfrm>
            <a:custGeom>
              <a:avLst/>
              <a:gdLst/>
              <a:ahLst/>
              <a:cxnLst/>
              <a:rect l="l" t="t" r="r" b="b"/>
              <a:pathLst>
                <a:path w="1069836" h="117901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6"/>
              <a:stretch>
                <a:fillRect l="-23551" r="-2355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12467663" y="353598"/>
            <a:ext cx="6173936" cy="5466739"/>
          </a:xfrm>
          <a:custGeom>
            <a:avLst/>
            <a:gdLst/>
            <a:ahLst/>
            <a:cxnLst/>
            <a:rect l="l" t="t" r="r" b="b"/>
            <a:pathLst>
              <a:path w="6173936" h="5466739">
                <a:moveTo>
                  <a:pt x="0" y="0"/>
                </a:moveTo>
                <a:lnTo>
                  <a:pt x="6173935" y="0"/>
                </a:lnTo>
                <a:lnTo>
                  <a:pt x="6173935" y="5466739"/>
                </a:lnTo>
                <a:lnTo>
                  <a:pt x="0" y="54667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37181" y="1366109"/>
            <a:ext cx="6580374" cy="208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Executive Summary</a:t>
            </a:r>
          </a:p>
        </p:txBody>
      </p:sp>
      <p:sp>
        <p:nvSpPr>
          <p:cNvPr id="8" name="Freeform 8"/>
          <p:cNvSpPr/>
          <p:nvPr/>
        </p:nvSpPr>
        <p:spPr>
          <a:xfrm rot="938244">
            <a:off x="14841813" y="3505783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5" y="0"/>
                </a:lnTo>
                <a:lnTo>
                  <a:pt x="454025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974288">
            <a:off x="577890" y="3613151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358909" y="1263557"/>
            <a:ext cx="141811" cy="14181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010188" y="6698809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2396" y="790089"/>
            <a:ext cx="141811" cy="14181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52435" y="3322517"/>
            <a:ext cx="260405" cy="26040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1131257" y="7200032"/>
            <a:ext cx="3937568" cy="3250283"/>
          </a:xfrm>
          <a:custGeom>
            <a:avLst/>
            <a:gdLst/>
            <a:ahLst/>
            <a:cxnLst/>
            <a:rect l="l" t="t" r="r" b="b"/>
            <a:pathLst>
              <a:path w="3937568" h="3250283">
                <a:moveTo>
                  <a:pt x="0" y="0"/>
                </a:moveTo>
                <a:lnTo>
                  <a:pt x="3937568" y="0"/>
                </a:lnTo>
                <a:lnTo>
                  <a:pt x="3937568" y="3250284"/>
                </a:lnTo>
                <a:lnTo>
                  <a:pt x="0" y="32502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TextBox 23"/>
          <p:cNvSpPr txBox="1"/>
          <p:nvPr/>
        </p:nvSpPr>
        <p:spPr>
          <a:xfrm>
            <a:off x="9937181" y="5057775"/>
            <a:ext cx="682948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Insights - Forecasting - Productivity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37181" y="4434035"/>
            <a:ext cx="682948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Manufacturing Downtime Analysis</a:t>
            </a: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104929" y="3766079"/>
            <a:ext cx="7183071" cy="6520921"/>
          </a:xfrm>
          <a:custGeom>
            <a:avLst/>
            <a:gdLst/>
            <a:ahLst/>
            <a:cxnLst/>
            <a:rect l="l" t="t" r="r" b="b"/>
            <a:pathLst>
              <a:path w="7183071" h="6520921">
                <a:moveTo>
                  <a:pt x="7183071" y="0"/>
                </a:moveTo>
                <a:lnTo>
                  <a:pt x="0" y="0"/>
                </a:lnTo>
                <a:lnTo>
                  <a:pt x="0" y="6520921"/>
                </a:lnTo>
                <a:lnTo>
                  <a:pt x="7183071" y="6520921"/>
                </a:lnTo>
                <a:lnTo>
                  <a:pt x="71830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989670" y="1515034"/>
            <a:ext cx="7083676" cy="7256931"/>
            <a:chOff x="0" y="0"/>
            <a:chExt cx="959372" cy="9828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9372" cy="982836"/>
            </a:xfrm>
            <a:custGeom>
              <a:avLst/>
              <a:gdLst/>
              <a:ahLst/>
              <a:cxnLst/>
              <a:rect l="l" t="t" r="r" b="b"/>
              <a:pathLst>
                <a:path w="959372" h="982836">
                  <a:moveTo>
                    <a:pt x="54646" y="0"/>
                  </a:moveTo>
                  <a:lnTo>
                    <a:pt x="904725" y="0"/>
                  </a:lnTo>
                  <a:cubicBezTo>
                    <a:pt x="934906" y="0"/>
                    <a:pt x="959372" y="24466"/>
                    <a:pt x="959372" y="54646"/>
                  </a:cubicBezTo>
                  <a:lnTo>
                    <a:pt x="959372" y="928190"/>
                  </a:lnTo>
                  <a:cubicBezTo>
                    <a:pt x="959372" y="958370"/>
                    <a:pt x="934906" y="982836"/>
                    <a:pt x="904725" y="982836"/>
                  </a:cubicBezTo>
                  <a:lnTo>
                    <a:pt x="54646" y="982836"/>
                  </a:lnTo>
                  <a:cubicBezTo>
                    <a:pt x="24466" y="982836"/>
                    <a:pt x="0" y="958370"/>
                    <a:pt x="0" y="928190"/>
                  </a:cubicBezTo>
                  <a:lnTo>
                    <a:pt x="0" y="54646"/>
                  </a:lnTo>
                  <a:cubicBezTo>
                    <a:pt x="0" y="24466"/>
                    <a:pt x="24466" y="0"/>
                    <a:pt x="54646" y="0"/>
                  </a:cubicBezTo>
                  <a:close/>
                </a:path>
              </a:pathLst>
            </a:custGeom>
            <a:blipFill>
              <a:blip r:embed="rId4"/>
              <a:stretch>
                <a:fillRect l="-26834" r="-26834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5" name="Freeform 5"/>
          <p:cNvSpPr/>
          <p:nvPr/>
        </p:nvSpPr>
        <p:spPr>
          <a:xfrm flipH="1">
            <a:off x="0" y="0"/>
            <a:ext cx="7255974" cy="5067522"/>
          </a:xfrm>
          <a:custGeom>
            <a:avLst/>
            <a:gdLst/>
            <a:ahLst/>
            <a:cxnLst/>
            <a:rect l="l" t="t" r="r" b="b"/>
            <a:pathLst>
              <a:path w="7255974" h="5067522">
                <a:moveTo>
                  <a:pt x="7255974" y="0"/>
                </a:moveTo>
                <a:lnTo>
                  <a:pt x="0" y="0"/>
                </a:lnTo>
                <a:lnTo>
                  <a:pt x="0" y="5067522"/>
                </a:lnTo>
                <a:lnTo>
                  <a:pt x="7255974" y="5067522"/>
                </a:lnTo>
                <a:lnTo>
                  <a:pt x="725597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4106" y="-348721"/>
            <a:ext cx="4686884" cy="3613161"/>
          </a:xfrm>
          <a:custGeom>
            <a:avLst/>
            <a:gdLst/>
            <a:ahLst/>
            <a:cxnLst/>
            <a:rect l="l" t="t" r="r" b="b"/>
            <a:pathLst>
              <a:path w="4686884" h="3613161">
                <a:moveTo>
                  <a:pt x="0" y="0"/>
                </a:moveTo>
                <a:lnTo>
                  <a:pt x="4686884" y="0"/>
                </a:lnTo>
                <a:lnTo>
                  <a:pt x="4686884" y="3613161"/>
                </a:lnTo>
                <a:lnTo>
                  <a:pt x="0" y="36131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763169" y="6149701"/>
            <a:ext cx="4620353" cy="4275927"/>
          </a:xfrm>
          <a:custGeom>
            <a:avLst/>
            <a:gdLst/>
            <a:ahLst/>
            <a:cxnLst/>
            <a:rect l="l" t="t" r="r" b="b"/>
            <a:pathLst>
              <a:path w="4620353" h="4275927">
                <a:moveTo>
                  <a:pt x="0" y="0"/>
                </a:moveTo>
                <a:lnTo>
                  <a:pt x="4620353" y="0"/>
                </a:lnTo>
                <a:lnTo>
                  <a:pt x="4620353" y="4275926"/>
                </a:lnTo>
                <a:lnTo>
                  <a:pt x="0" y="42759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3178715"/>
            <a:ext cx="8092600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Manufacturing downtime disrupts production and lowers efficiency. By analyzing downtime events and daily output, we can identify the main causes and improve performance.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55709" y="1813039"/>
            <a:ext cx="6658648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 u="none" strike="noStrike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sp>
        <p:nvSpPr>
          <p:cNvPr id="10" name="Freeform 10"/>
          <p:cNvSpPr/>
          <p:nvPr/>
        </p:nvSpPr>
        <p:spPr>
          <a:xfrm rot="4360010">
            <a:off x="8110099" y="1091240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74288">
            <a:off x="9018588" y="9288530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649601" y="2862712"/>
            <a:ext cx="141811" cy="14181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29098" y="2311805"/>
            <a:ext cx="260405" cy="26040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267473" y="582828"/>
            <a:ext cx="141811" cy="14181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453" y="-53180"/>
            <a:ext cx="5313932" cy="4840601"/>
          </a:xfrm>
          <a:custGeom>
            <a:avLst/>
            <a:gdLst/>
            <a:ahLst/>
            <a:cxnLst/>
            <a:rect l="l" t="t" r="r" b="b"/>
            <a:pathLst>
              <a:path w="5313932" h="4840601">
                <a:moveTo>
                  <a:pt x="0" y="0"/>
                </a:moveTo>
                <a:lnTo>
                  <a:pt x="5313932" y="0"/>
                </a:lnTo>
                <a:lnTo>
                  <a:pt x="5313932" y="4840601"/>
                </a:lnTo>
                <a:lnTo>
                  <a:pt x="0" y="4840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453" y="-189084"/>
            <a:ext cx="4835769" cy="4114800"/>
          </a:xfrm>
          <a:custGeom>
            <a:avLst/>
            <a:gdLst/>
            <a:ahLst/>
            <a:cxnLst/>
            <a:rect l="l" t="t" r="r" b="b"/>
            <a:pathLst>
              <a:path w="4835769" h="4114800">
                <a:moveTo>
                  <a:pt x="0" y="0"/>
                </a:moveTo>
                <a:lnTo>
                  <a:pt x="4835769" y="0"/>
                </a:lnTo>
                <a:lnTo>
                  <a:pt x="4835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8441588" cy="8229600"/>
            <a:chOff x="0" y="0"/>
            <a:chExt cx="1143279" cy="11145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279" cy="1114569"/>
            </a:xfrm>
            <a:custGeom>
              <a:avLst/>
              <a:gdLst/>
              <a:ahLst/>
              <a:cxnLst/>
              <a:rect l="l" t="t" r="r" b="b"/>
              <a:pathLst>
                <a:path w="1143279" h="1114569">
                  <a:moveTo>
                    <a:pt x="22928" y="0"/>
                  </a:moveTo>
                  <a:lnTo>
                    <a:pt x="1120351" y="0"/>
                  </a:lnTo>
                  <a:cubicBezTo>
                    <a:pt x="1126432" y="0"/>
                    <a:pt x="1132264" y="2416"/>
                    <a:pt x="1136564" y="6715"/>
                  </a:cubicBezTo>
                  <a:cubicBezTo>
                    <a:pt x="1140864" y="11015"/>
                    <a:pt x="1143279" y="16847"/>
                    <a:pt x="1143279" y="22928"/>
                  </a:cubicBezTo>
                  <a:lnTo>
                    <a:pt x="1143279" y="1091641"/>
                  </a:lnTo>
                  <a:cubicBezTo>
                    <a:pt x="1143279" y="1104304"/>
                    <a:pt x="1133014" y="1114569"/>
                    <a:pt x="1120351" y="1114569"/>
                  </a:cubicBezTo>
                  <a:lnTo>
                    <a:pt x="22928" y="1114569"/>
                  </a:lnTo>
                  <a:cubicBezTo>
                    <a:pt x="16847" y="1114569"/>
                    <a:pt x="11015" y="1112153"/>
                    <a:pt x="6715" y="1107853"/>
                  </a:cubicBezTo>
                  <a:cubicBezTo>
                    <a:pt x="2416" y="1103554"/>
                    <a:pt x="0" y="1097722"/>
                    <a:pt x="0" y="1091641"/>
                  </a:cubicBezTo>
                  <a:lnTo>
                    <a:pt x="0" y="22928"/>
                  </a:lnTo>
                  <a:cubicBezTo>
                    <a:pt x="0" y="10265"/>
                    <a:pt x="10265" y="0"/>
                    <a:pt x="22928" y="0"/>
                  </a:cubicBezTo>
                  <a:close/>
                </a:path>
              </a:pathLst>
            </a:custGeom>
            <a:blipFill>
              <a:blip r:embed="rId6"/>
              <a:stretch>
                <a:fillRect l="-1565" r="-1565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101421" y="2611912"/>
            <a:ext cx="687793" cy="68779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BCF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42543" tIns="42543" rIns="42543" bIns="4254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136849" y="4874830"/>
            <a:ext cx="6173936" cy="5466739"/>
          </a:xfrm>
          <a:custGeom>
            <a:avLst/>
            <a:gdLst/>
            <a:ahLst/>
            <a:cxnLst/>
            <a:rect l="l" t="t" r="r" b="b"/>
            <a:pathLst>
              <a:path w="6173936" h="5466739">
                <a:moveTo>
                  <a:pt x="0" y="0"/>
                </a:moveTo>
                <a:lnTo>
                  <a:pt x="6173936" y="0"/>
                </a:lnTo>
                <a:lnTo>
                  <a:pt x="6173936" y="5466740"/>
                </a:lnTo>
                <a:lnTo>
                  <a:pt x="0" y="5466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779519" y="6432544"/>
            <a:ext cx="4246041" cy="4114800"/>
          </a:xfrm>
          <a:custGeom>
            <a:avLst/>
            <a:gdLst/>
            <a:ahLst/>
            <a:cxnLst/>
            <a:rect l="l" t="t" r="r" b="b"/>
            <a:pathLst>
              <a:path w="4246041" h="4114800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942169" y="724681"/>
            <a:ext cx="6658648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 u="none" strike="noStrike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Methodology</a:t>
            </a:r>
          </a:p>
        </p:txBody>
      </p:sp>
      <p:sp>
        <p:nvSpPr>
          <p:cNvPr id="12" name="Freeform 12"/>
          <p:cNvSpPr/>
          <p:nvPr/>
        </p:nvSpPr>
        <p:spPr>
          <a:xfrm rot="4360010">
            <a:off x="17032287" y="899850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6"/>
                </a:lnTo>
                <a:lnTo>
                  <a:pt x="0" y="4391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18308" y="837309"/>
            <a:ext cx="141811" cy="14181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26050" y="10116167"/>
            <a:ext cx="341666" cy="34166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942169" y="2526187"/>
            <a:ext cx="5608254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We cleaned the data using Python by fixing missing values, correcting errors, and preparing it for analysis.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55676" y="2561570"/>
            <a:ext cx="179281" cy="78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  <a:spcBef>
                <a:spcPct val="0"/>
              </a:spcBef>
            </a:pPr>
            <a:r>
              <a:rPr lang="en-US" sz="440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453" y="-53180"/>
            <a:ext cx="5313932" cy="4840601"/>
          </a:xfrm>
          <a:custGeom>
            <a:avLst/>
            <a:gdLst/>
            <a:ahLst/>
            <a:cxnLst/>
            <a:rect l="l" t="t" r="r" b="b"/>
            <a:pathLst>
              <a:path w="5313932" h="4840601">
                <a:moveTo>
                  <a:pt x="0" y="0"/>
                </a:moveTo>
                <a:lnTo>
                  <a:pt x="5313932" y="0"/>
                </a:lnTo>
                <a:lnTo>
                  <a:pt x="5313932" y="4840601"/>
                </a:lnTo>
                <a:lnTo>
                  <a:pt x="0" y="4840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453" y="-189084"/>
            <a:ext cx="4835769" cy="4114800"/>
          </a:xfrm>
          <a:custGeom>
            <a:avLst/>
            <a:gdLst/>
            <a:ahLst/>
            <a:cxnLst/>
            <a:rect l="l" t="t" r="r" b="b"/>
            <a:pathLst>
              <a:path w="4835769" h="4114800">
                <a:moveTo>
                  <a:pt x="0" y="0"/>
                </a:moveTo>
                <a:lnTo>
                  <a:pt x="4835769" y="0"/>
                </a:lnTo>
                <a:lnTo>
                  <a:pt x="4835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232911"/>
            <a:ext cx="9234844" cy="8025389"/>
            <a:chOff x="0" y="0"/>
            <a:chExt cx="1250713" cy="10869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50713" cy="1086912"/>
            </a:xfrm>
            <a:custGeom>
              <a:avLst/>
              <a:gdLst/>
              <a:ahLst/>
              <a:cxnLst/>
              <a:rect l="l" t="t" r="r" b="b"/>
              <a:pathLst>
                <a:path w="1250713" h="1086912">
                  <a:moveTo>
                    <a:pt x="20958" y="0"/>
                  </a:moveTo>
                  <a:lnTo>
                    <a:pt x="1229755" y="0"/>
                  </a:lnTo>
                  <a:cubicBezTo>
                    <a:pt x="1241330" y="0"/>
                    <a:pt x="1250713" y="9383"/>
                    <a:pt x="1250713" y="20958"/>
                  </a:cubicBezTo>
                  <a:lnTo>
                    <a:pt x="1250713" y="1065953"/>
                  </a:lnTo>
                  <a:cubicBezTo>
                    <a:pt x="1250713" y="1071512"/>
                    <a:pt x="1248505" y="1076843"/>
                    <a:pt x="1244575" y="1080773"/>
                  </a:cubicBezTo>
                  <a:cubicBezTo>
                    <a:pt x="1240644" y="1084704"/>
                    <a:pt x="1235313" y="1086912"/>
                    <a:pt x="1229755" y="1086912"/>
                  </a:cubicBezTo>
                  <a:lnTo>
                    <a:pt x="20958" y="1086912"/>
                  </a:lnTo>
                  <a:cubicBezTo>
                    <a:pt x="9383" y="1086912"/>
                    <a:pt x="0" y="1077528"/>
                    <a:pt x="0" y="1065953"/>
                  </a:cubicBezTo>
                  <a:lnTo>
                    <a:pt x="0" y="20958"/>
                  </a:lnTo>
                  <a:cubicBezTo>
                    <a:pt x="0" y="9383"/>
                    <a:pt x="9383" y="0"/>
                    <a:pt x="20958" y="0"/>
                  </a:cubicBezTo>
                  <a:close/>
                </a:path>
              </a:pathLst>
            </a:custGeom>
            <a:blipFill>
              <a:blip r:embed="rId6"/>
              <a:stretch>
                <a:fillRect l="-6716" r="-6716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083980" y="2122642"/>
            <a:ext cx="687793" cy="68779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BCF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42543" tIns="42543" rIns="42543" bIns="4254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136849" y="4874830"/>
            <a:ext cx="6173936" cy="5466739"/>
          </a:xfrm>
          <a:custGeom>
            <a:avLst/>
            <a:gdLst/>
            <a:ahLst/>
            <a:cxnLst/>
            <a:rect l="l" t="t" r="r" b="b"/>
            <a:pathLst>
              <a:path w="6173936" h="5466739">
                <a:moveTo>
                  <a:pt x="0" y="0"/>
                </a:moveTo>
                <a:lnTo>
                  <a:pt x="6173936" y="0"/>
                </a:lnTo>
                <a:lnTo>
                  <a:pt x="6173936" y="5466740"/>
                </a:lnTo>
                <a:lnTo>
                  <a:pt x="0" y="5466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779519" y="6432544"/>
            <a:ext cx="4246041" cy="4114800"/>
          </a:xfrm>
          <a:custGeom>
            <a:avLst/>
            <a:gdLst/>
            <a:ahLst/>
            <a:cxnLst/>
            <a:rect l="l" t="t" r="r" b="b"/>
            <a:pathLst>
              <a:path w="4246041" h="4114800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4360010">
            <a:off x="16801587" y="1013327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42169" y="886889"/>
            <a:ext cx="141811" cy="1418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26050" y="10116167"/>
            <a:ext cx="341666" cy="34166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905360" y="2036917"/>
            <a:ext cx="5400485" cy="320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We calculated the main KPIs and performance metrics using Excel to understand production behavior and downtime impact.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66844" y="2070107"/>
            <a:ext cx="322064" cy="792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3"/>
              </a:lnSpc>
              <a:spcBef>
                <a:spcPct val="0"/>
              </a:spcBef>
            </a:pPr>
            <a:r>
              <a:rPr lang="en-US" sz="44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453" y="-53180"/>
            <a:ext cx="5313932" cy="4840601"/>
          </a:xfrm>
          <a:custGeom>
            <a:avLst/>
            <a:gdLst/>
            <a:ahLst/>
            <a:cxnLst/>
            <a:rect l="l" t="t" r="r" b="b"/>
            <a:pathLst>
              <a:path w="5313932" h="4840601">
                <a:moveTo>
                  <a:pt x="0" y="0"/>
                </a:moveTo>
                <a:lnTo>
                  <a:pt x="5313932" y="0"/>
                </a:lnTo>
                <a:lnTo>
                  <a:pt x="5313932" y="4840601"/>
                </a:lnTo>
                <a:lnTo>
                  <a:pt x="0" y="4840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453" y="-189084"/>
            <a:ext cx="4835769" cy="4114800"/>
          </a:xfrm>
          <a:custGeom>
            <a:avLst/>
            <a:gdLst/>
            <a:ahLst/>
            <a:cxnLst/>
            <a:rect l="l" t="t" r="r" b="b"/>
            <a:pathLst>
              <a:path w="4835769" h="4114800">
                <a:moveTo>
                  <a:pt x="0" y="0"/>
                </a:moveTo>
                <a:lnTo>
                  <a:pt x="4835769" y="0"/>
                </a:lnTo>
                <a:lnTo>
                  <a:pt x="4835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80567" y="1515034"/>
            <a:ext cx="10055280" cy="7237198"/>
            <a:chOff x="0" y="0"/>
            <a:chExt cx="1361828" cy="9801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1828" cy="980164"/>
            </a:xfrm>
            <a:custGeom>
              <a:avLst/>
              <a:gdLst/>
              <a:ahLst/>
              <a:cxnLst/>
              <a:rect l="l" t="t" r="r" b="b"/>
              <a:pathLst>
                <a:path w="1361828" h="980164">
                  <a:moveTo>
                    <a:pt x="19248" y="0"/>
                  </a:moveTo>
                  <a:lnTo>
                    <a:pt x="1342580" y="0"/>
                  </a:lnTo>
                  <a:cubicBezTo>
                    <a:pt x="1347685" y="0"/>
                    <a:pt x="1352581" y="2028"/>
                    <a:pt x="1356191" y="5638"/>
                  </a:cubicBezTo>
                  <a:cubicBezTo>
                    <a:pt x="1359800" y="9247"/>
                    <a:pt x="1361828" y="14143"/>
                    <a:pt x="1361828" y="19248"/>
                  </a:cubicBezTo>
                  <a:lnTo>
                    <a:pt x="1361828" y="960915"/>
                  </a:lnTo>
                  <a:cubicBezTo>
                    <a:pt x="1361828" y="966020"/>
                    <a:pt x="1359800" y="970916"/>
                    <a:pt x="1356191" y="974526"/>
                  </a:cubicBezTo>
                  <a:cubicBezTo>
                    <a:pt x="1352581" y="978136"/>
                    <a:pt x="1347685" y="980164"/>
                    <a:pt x="1342580" y="980164"/>
                  </a:cubicBezTo>
                  <a:lnTo>
                    <a:pt x="19248" y="980164"/>
                  </a:lnTo>
                  <a:cubicBezTo>
                    <a:pt x="14143" y="980164"/>
                    <a:pt x="9247" y="978136"/>
                    <a:pt x="5638" y="974526"/>
                  </a:cubicBezTo>
                  <a:cubicBezTo>
                    <a:pt x="2028" y="970916"/>
                    <a:pt x="0" y="966020"/>
                    <a:pt x="0" y="960915"/>
                  </a:cubicBezTo>
                  <a:lnTo>
                    <a:pt x="0" y="19248"/>
                  </a:lnTo>
                  <a:cubicBezTo>
                    <a:pt x="0" y="14143"/>
                    <a:pt x="2028" y="9247"/>
                    <a:pt x="5638" y="5638"/>
                  </a:cubicBezTo>
                  <a:cubicBezTo>
                    <a:pt x="9247" y="2028"/>
                    <a:pt x="14143" y="0"/>
                    <a:pt x="19248" y="0"/>
                  </a:cubicBezTo>
                  <a:close/>
                </a:path>
              </a:pathLst>
            </a:custGeom>
            <a:blipFill>
              <a:blip r:embed="rId6"/>
              <a:stretch>
                <a:fillRect l="-6296" r="-21985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449057" y="2931707"/>
            <a:ext cx="687793" cy="68779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BCF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42543" tIns="42543" rIns="42543" bIns="4254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136849" y="4874830"/>
            <a:ext cx="6173936" cy="5466739"/>
          </a:xfrm>
          <a:custGeom>
            <a:avLst/>
            <a:gdLst/>
            <a:ahLst/>
            <a:cxnLst/>
            <a:rect l="l" t="t" r="r" b="b"/>
            <a:pathLst>
              <a:path w="6173936" h="5466739">
                <a:moveTo>
                  <a:pt x="0" y="0"/>
                </a:moveTo>
                <a:lnTo>
                  <a:pt x="6173936" y="0"/>
                </a:lnTo>
                <a:lnTo>
                  <a:pt x="6173936" y="5466740"/>
                </a:lnTo>
                <a:lnTo>
                  <a:pt x="0" y="5466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779519" y="6432544"/>
            <a:ext cx="4246041" cy="4114800"/>
          </a:xfrm>
          <a:custGeom>
            <a:avLst/>
            <a:gdLst/>
            <a:ahLst/>
            <a:cxnLst/>
            <a:rect l="l" t="t" r="r" b="b"/>
            <a:pathLst>
              <a:path w="4246041" h="4114800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4360010">
            <a:off x="16801587" y="1013327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42169" y="886889"/>
            <a:ext cx="141811" cy="1418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26050" y="10116167"/>
            <a:ext cx="341666" cy="34166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266815" y="2845982"/>
            <a:ext cx="5758745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We created an interactive dashboard using Power BI to visualize downtime patterns, operator performance, and daily batch output.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28002" y="2879172"/>
            <a:ext cx="329902" cy="792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3"/>
              </a:lnSpc>
              <a:spcBef>
                <a:spcPct val="0"/>
              </a:spcBef>
            </a:pPr>
            <a:r>
              <a:rPr lang="en-US" sz="44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257" y="5996465"/>
            <a:ext cx="6247553" cy="4430083"/>
          </a:xfrm>
          <a:custGeom>
            <a:avLst/>
            <a:gdLst/>
            <a:ahLst/>
            <a:cxnLst/>
            <a:rect l="l" t="t" r="r" b="b"/>
            <a:pathLst>
              <a:path w="6247553" h="4430083">
                <a:moveTo>
                  <a:pt x="0" y="0"/>
                </a:moveTo>
                <a:lnTo>
                  <a:pt x="6247553" y="0"/>
                </a:lnTo>
                <a:lnTo>
                  <a:pt x="6247553" y="4430083"/>
                </a:lnTo>
                <a:lnTo>
                  <a:pt x="0" y="4430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04694" y="-17784"/>
            <a:ext cx="6483306" cy="4533904"/>
          </a:xfrm>
          <a:custGeom>
            <a:avLst/>
            <a:gdLst/>
            <a:ahLst/>
            <a:cxnLst/>
            <a:rect l="l" t="t" r="r" b="b"/>
            <a:pathLst>
              <a:path w="6483306" h="4533904">
                <a:moveTo>
                  <a:pt x="0" y="0"/>
                </a:moveTo>
                <a:lnTo>
                  <a:pt x="6483306" y="0"/>
                </a:lnTo>
                <a:lnTo>
                  <a:pt x="6483306" y="4533904"/>
                </a:lnTo>
                <a:lnTo>
                  <a:pt x="0" y="4533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825716" y="1215361"/>
            <a:ext cx="260405" cy="26040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37441" y="1475765"/>
            <a:ext cx="14613118" cy="8296785"/>
            <a:chOff x="0" y="0"/>
            <a:chExt cx="2263954" cy="12853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63954" cy="1285389"/>
            </a:xfrm>
            <a:custGeom>
              <a:avLst/>
              <a:gdLst/>
              <a:ahLst/>
              <a:cxnLst/>
              <a:rect l="l" t="t" r="r" b="b"/>
              <a:pathLst>
                <a:path w="2263954" h="1285389">
                  <a:moveTo>
                    <a:pt x="15894" y="0"/>
                  </a:moveTo>
                  <a:lnTo>
                    <a:pt x="2248061" y="0"/>
                  </a:lnTo>
                  <a:cubicBezTo>
                    <a:pt x="2252276" y="0"/>
                    <a:pt x="2256319" y="1675"/>
                    <a:pt x="2259299" y="4655"/>
                  </a:cubicBezTo>
                  <a:cubicBezTo>
                    <a:pt x="2262280" y="7636"/>
                    <a:pt x="2263954" y="11678"/>
                    <a:pt x="2263954" y="15894"/>
                  </a:cubicBezTo>
                  <a:lnTo>
                    <a:pt x="2263954" y="1269495"/>
                  </a:lnTo>
                  <a:cubicBezTo>
                    <a:pt x="2263954" y="1273711"/>
                    <a:pt x="2262280" y="1277753"/>
                    <a:pt x="2259299" y="1280734"/>
                  </a:cubicBezTo>
                  <a:cubicBezTo>
                    <a:pt x="2256319" y="1283715"/>
                    <a:pt x="2252276" y="1285389"/>
                    <a:pt x="2248061" y="1285389"/>
                  </a:cubicBezTo>
                  <a:lnTo>
                    <a:pt x="15894" y="1285389"/>
                  </a:lnTo>
                  <a:cubicBezTo>
                    <a:pt x="11678" y="1285389"/>
                    <a:pt x="7636" y="1283715"/>
                    <a:pt x="4655" y="1280734"/>
                  </a:cubicBezTo>
                  <a:cubicBezTo>
                    <a:pt x="1675" y="1277753"/>
                    <a:pt x="0" y="1273711"/>
                    <a:pt x="0" y="1269495"/>
                  </a:cubicBezTo>
                  <a:lnTo>
                    <a:pt x="0" y="15894"/>
                  </a:lnTo>
                  <a:cubicBezTo>
                    <a:pt x="0" y="11678"/>
                    <a:pt x="1675" y="7636"/>
                    <a:pt x="4655" y="4655"/>
                  </a:cubicBezTo>
                  <a:cubicBezTo>
                    <a:pt x="7636" y="1675"/>
                    <a:pt x="11678" y="0"/>
                    <a:pt x="15894" y="0"/>
                  </a:cubicBezTo>
                  <a:close/>
                </a:path>
              </a:pathLst>
            </a:custGeom>
            <a:blipFill>
              <a:blip r:embed="rId6"/>
              <a:stretch>
                <a:fillRect l="-914" r="-914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4360010">
            <a:off x="653554" y="843856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3573" y="781316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151929" y="332130"/>
            <a:ext cx="6658648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 u="none" strike="noStrike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Results</a:t>
            </a:r>
          </a:p>
        </p:txBody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9662" y="1934383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2"/>
                </a:lnTo>
                <a:lnTo>
                  <a:pt x="0" y="495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46184"/>
            <a:ext cx="7183071" cy="6520921"/>
          </a:xfrm>
          <a:custGeom>
            <a:avLst/>
            <a:gdLst/>
            <a:ahLst/>
            <a:cxnLst/>
            <a:rect l="l" t="t" r="r" b="b"/>
            <a:pathLst>
              <a:path w="7183071" h="6520921">
                <a:moveTo>
                  <a:pt x="0" y="0"/>
                </a:moveTo>
                <a:lnTo>
                  <a:pt x="7183071" y="0"/>
                </a:lnTo>
                <a:lnTo>
                  <a:pt x="7183071" y="6520921"/>
                </a:lnTo>
                <a:lnTo>
                  <a:pt x="0" y="6520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51257" y="5996465"/>
            <a:ext cx="6247553" cy="4430083"/>
          </a:xfrm>
          <a:custGeom>
            <a:avLst/>
            <a:gdLst/>
            <a:ahLst/>
            <a:cxnLst/>
            <a:rect l="l" t="t" r="r" b="b"/>
            <a:pathLst>
              <a:path w="6247553" h="4430083">
                <a:moveTo>
                  <a:pt x="0" y="0"/>
                </a:moveTo>
                <a:lnTo>
                  <a:pt x="6247553" y="0"/>
                </a:lnTo>
                <a:lnTo>
                  <a:pt x="6247553" y="4430083"/>
                </a:lnTo>
                <a:lnTo>
                  <a:pt x="0" y="4430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04694" y="-17784"/>
            <a:ext cx="6483306" cy="4533904"/>
          </a:xfrm>
          <a:custGeom>
            <a:avLst/>
            <a:gdLst/>
            <a:ahLst/>
            <a:cxnLst/>
            <a:rect l="l" t="t" r="r" b="b"/>
            <a:pathLst>
              <a:path w="6483306" h="4533904">
                <a:moveTo>
                  <a:pt x="0" y="0"/>
                </a:moveTo>
                <a:lnTo>
                  <a:pt x="6483306" y="0"/>
                </a:lnTo>
                <a:lnTo>
                  <a:pt x="6483306" y="4533904"/>
                </a:lnTo>
                <a:lnTo>
                  <a:pt x="0" y="4533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825716" y="1215361"/>
            <a:ext cx="260405" cy="26040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77523" y="1648350"/>
            <a:ext cx="11341904" cy="4592800"/>
            <a:chOff x="0" y="0"/>
            <a:chExt cx="1757158" cy="711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7158" cy="711545"/>
            </a:xfrm>
            <a:custGeom>
              <a:avLst/>
              <a:gdLst/>
              <a:ahLst/>
              <a:cxnLst/>
              <a:rect l="l" t="t" r="r" b="b"/>
              <a:pathLst>
                <a:path w="1757158" h="711545">
                  <a:moveTo>
                    <a:pt x="20478" y="0"/>
                  </a:moveTo>
                  <a:lnTo>
                    <a:pt x="1736680" y="0"/>
                  </a:lnTo>
                  <a:cubicBezTo>
                    <a:pt x="1742111" y="0"/>
                    <a:pt x="1747320" y="2157"/>
                    <a:pt x="1751160" y="5998"/>
                  </a:cubicBezTo>
                  <a:cubicBezTo>
                    <a:pt x="1755000" y="9838"/>
                    <a:pt x="1757158" y="15047"/>
                    <a:pt x="1757158" y="20478"/>
                  </a:cubicBezTo>
                  <a:lnTo>
                    <a:pt x="1757158" y="691067"/>
                  </a:lnTo>
                  <a:cubicBezTo>
                    <a:pt x="1757158" y="696498"/>
                    <a:pt x="1755000" y="701707"/>
                    <a:pt x="1751160" y="705547"/>
                  </a:cubicBezTo>
                  <a:cubicBezTo>
                    <a:pt x="1747320" y="709387"/>
                    <a:pt x="1742111" y="711545"/>
                    <a:pt x="1736680" y="711545"/>
                  </a:cubicBezTo>
                  <a:lnTo>
                    <a:pt x="20478" y="711545"/>
                  </a:lnTo>
                  <a:cubicBezTo>
                    <a:pt x="15047" y="711545"/>
                    <a:pt x="9838" y="709387"/>
                    <a:pt x="5998" y="705547"/>
                  </a:cubicBezTo>
                  <a:cubicBezTo>
                    <a:pt x="2157" y="701707"/>
                    <a:pt x="0" y="696498"/>
                    <a:pt x="0" y="691067"/>
                  </a:cubicBezTo>
                  <a:lnTo>
                    <a:pt x="0" y="20478"/>
                  </a:lnTo>
                  <a:cubicBezTo>
                    <a:pt x="0" y="15047"/>
                    <a:pt x="2157" y="9838"/>
                    <a:pt x="5998" y="5998"/>
                  </a:cubicBezTo>
                  <a:cubicBezTo>
                    <a:pt x="9838" y="2157"/>
                    <a:pt x="15047" y="0"/>
                    <a:pt x="20478" y="0"/>
                  </a:cubicBezTo>
                  <a:close/>
                </a:path>
              </a:pathLst>
            </a:custGeom>
            <a:blipFill>
              <a:blip r:embed="rId10"/>
              <a:stretch>
                <a:fillRect t="-1085" b="-1085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4360010">
            <a:off x="653554" y="843856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974288">
            <a:off x="9018588" y="9288530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83573" y="781316"/>
            <a:ext cx="141811" cy="14181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09662" y="3105283"/>
            <a:ext cx="5567861" cy="320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The chart shows that machine adjustment and machine failure are the main causes of downtime, while other factors have a smaller impact.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39778" y="1858183"/>
            <a:ext cx="346940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Total Downtime by Factor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257" y="5996465"/>
            <a:ext cx="6247553" cy="4430083"/>
          </a:xfrm>
          <a:custGeom>
            <a:avLst/>
            <a:gdLst/>
            <a:ahLst/>
            <a:cxnLst/>
            <a:rect l="l" t="t" r="r" b="b"/>
            <a:pathLst>
              <a:path w="6247553" h="4430083">
                <a:moveTo>
                  <a:pt x="0" y="0"/>
                </a:moveTo>
                <a:lnTo>
                  <a:pt x="6247553" y="0"/>
                </a:lnTo>
                <a:lnTo>
                  <a:pt x="6247553" y="4430083"/>
                </a:lnTo>
                <a:lnTo>
                  <a:pt x="0" y="4430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04694" y="-17784"/>
            <a:ext cx="6483306" cy="4533904"/>
          </a:xfrm>
          <a:custGeom>
            <a:avLst/>
            <a:gdLst/>
            <a:ahLst/>
            <a:cxnLst/>
            <a:rect l="l" t="t" r="r" b="b"/>
            <a:pathLst>
              <a:path w="6483306" h="4533904">
                <a:moveTo>
                  <a:pt x="0" y="0"/>
                </a:moveTo>
                <a:lnTo>
                  <a:pt x="6483306" y="0"/>
                </a:lnTo>
                <a:lnTo>
                  <a:pt x="6483306" y="4533904"/>
                </a:lnTo>
                <a:lnTo>
                  <a:pt x="0" y="4533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825716" y="1215361"/>
            <a:ext cx="260405" cy="26040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37441" y="1475765"/>
            <a:ext cx="14613118" cy="8296785"/>
            <a:chOff x="0" y="0"/>
            <a:chExt cx="2263954" cy="12853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63954" cy="1285389"/>
            </a:xfrm>
            <a:custGeom>
              <a:avLst/>
              <a:gdLst/>
              <a:ahLst/>
              <a:cxnLst/>
              <a:rect l="l" t="t" r="r" b="b"/>
              <a:pathLst>
                <a:path w="2263954" h="1285389">
                  <a:moveTo>
                    <a:pt x="15894" y="0"/>
                  </a:moveTo>
                  <a:lnTo>
                    <a:pt x="2248061" y="0"/>
                  </a:lnTo>
                  <a:cubicBezTo>
                    <a:pt x="2252276" y="0"/>
                    <a:pt x="2256319" y="1675"/>
                    <a:pt x="2259299" y="4655"/>
                  </a:cubicBezTo>
                  <a:cubicBezTo>
                    <a:pt x="2262280" y="7636"/>
                    <a:pt x="2263954" y="11678"/>
                    <a:pt x="2263954" y="15894"/>
                  </a:cubicBezTo>
                  <a:lnTo>
                    <a:pt x="2263954" y="1269495"/>
                  </a:lnTo>
                  <a:cubicBezTo>
                    <a:pt x="2263954" y="1273711"/>
                    <a:pt x="2262280" y="1277753"/>
                    <a:pt x="2259299" y="1280734"/>
                  </a:cubicBezTo>
                  <a:cubicBezTo>
                    <a:pt x="2256319" y="1283715"/>
                    <a:pt x="2252276" y="1285389"/>
                    <a:pt x="2248061" y="1285389"/>
                  </a:cubicBezTo>
                  <a:lnTo>
                    <a:pt x="15894" y="1285389"/>
                  </a:lnTo>
                  <a:cubicBezTo>
                    <a:pt x="11678" y="1285389"/>
                    <a:pt x="7636" y="1283715"/>
                    <a:pt x="4655" y="1280734"/>
                  </a:cubicBezTo>
                  <a:cubicBezTo>
                    <a:pt x="1675" y="1277753"/>
                    <a:pt x="0" y="1273711"/>
                    <a:pt x="0" y="1269495"/>
                  </a:cubicBezTo>
                  <a:lnTo>
                    <a:pt x="0" y="15894"/>
                  </a:lnTo>
                  <a:cubicBezTo>
                    <a:pt x="0" y="11678"/>
                    <a:pt x="1675" y="7636"/>
                    <a:pt x="4655" y="4655"/>
                  </a:cubicBezTo>
                  <a:cubicBezTo>
                    <a:pt x="7636" y="1675"/>
                    <a:pt x="11678" y="0"/>
                    <a:pt x="15894" y="0"/>
                  </a:cubicBezTo>
                  <a:close/>
                </a:path>
              </a:pathLst>
            </a:custGeom>
            <a:blipFill>
              <a:blip r:embed="rId6"/>
              <a:stretch>
                <a:fillRect l="-914" r="-914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4360010">
            <a:off x="653554" y="843856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3573" y="781316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151929" y="332130"/>
            <a:ext cx="6658648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 u="none" strike="noStrike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9662" y="1934383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2"/>
                </a:lnTo>
                <a:lnTo>
                  <a:pt x="0" y="495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46184"/>
            <a:ext cx="7183071" cy="6520921"/>
          </a:xfrm>
          <a:custGeom>
            <a:avLst/>
            <a:gdLst/>
            <a:ahLst/>
            <a:cxnLst/>
            <a:rect l="l" t="t" r="r" b="b"/>
            <a:pathLst>
              <a:path w="7183071" h="6520921">
                <a:moveTo>
                  <a:pt x="0" y="0"/>
                </a:moveTo>
                <a:lnTo>
                  <a:pt x="7183071" y="0"/>
                </a:lnTo>
                <a:lnTo>
                  <a:pt x="7183071" y="6520921"/>
                </a:lnTo>
                <a:lnTo>
                  <a:pt x="0" y="6520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51257" y="5996465"/>
            <a:ext cx="6247553" cy="4430083"/>
          </a:xfrm>
          <a:custGeom>
            <a:avLst/>
            <a:gdLst/>
            <a:ahLst/>
            <a:cxnLst/>
            <a:rect l="l" t="t" r="r" b="b"/>
            <a:pathLst>
              <a:path w="6247553" h="4430083">
                <a:moveTo>
                  <a:pt x="0" y="0"/>
                </a:moveTo>
                <a:lnTo>
                  <a:pt x="6247553" y="0"/>
                </a:lnTo>
                <a:lnTo>
                  <a:pt x="6247553" y="4430083"/>
                </a:lnTo>
                <a:lnTo>
                  <a:pt x="0" y="4430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04694" y="-17784"/>
            <a:ext cx="6483306" cy="4533904"/>
          </a:xfrm>
          <a:custGeom>
            <a:avLst/>
            <a:gdLst/>
            <a:ahLst/>
            <a:cxnLst/>
            <a:rect l="l" t="t" r="r" b="b"/>
            <a:pathLst>
              <a:path w="6483306" h="4533904">
                <a:moveTo>
                  <a:pt x="0" y="0"/>
                </a:moveTo>
                <a:lnTo>
                  <a:pt x="6483306" y="0"/>
                </a:lnTo>
                <a:lnTo>
                  <a:pt x="6483306" y="4533904"/>
                </a:lnTo>
                <a:lnTo>
                  <a:pt x="0" y="4533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825716" y="1215361"/>
            <a:ext cx="260405" cy="26040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25384" y="1648350"/>
            <a:ext cx="10794043" cy="6563156"/>
            <a:chOff x="0" y="0"/>
            <a:chExt cx="1672280" cy="1016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2280" cy="1016805"/>
            </a:xfrm>
            <a:custGeom>
              <a:avLst/>
              <a:gdLst/>
              <a:ahLst/>
              <a:cxnLst/>
              <a:rect l="l" t="t" r="r" b="b"/>
              <a:pathLst>
                <a:path w="1672280" h="1016805">
                  <a:moveTo>
                    <a:pt x="21517" y="0"/>
                  </a:moveTo>
                  <a:lnTo>
                    <a:pt x="1650762" y="0"/>
                  </a:lnTo>
                  <a:cubicBezTo>
                    <a:pt x="1656469" y="0"/>
                    <a:pt x="1661942" y="2267"/>
                    <a:pt x="1665978" y="6302"/>
                  </a:cubicBezTo>
                  <a:cubicBezTo>
                    <a:pt x="1670013" y="10338"/>
                    <a:pt x="1672280" y="15810"/>
                    <a:pt x="1672280" y="21517"/>
                  </a:cubicBezTo>
                  <a:lnTo>
                    <a:pt x="1672280" y="995287"/>
                  </a:lnTo>
                  <a:cubicBezTo>
                    <a:pt x="1672280" y="1007171"/>
                    <a:pt x="1662646" y="1016805"/>
                    <a:pt x="1650762" y="1016805"/>
                  </a:cubicBezTo>
                  <a:lnTo>
                    <a:pt x="21517" y="1016805"/>
                  </a:lnTo>
                  <a:cubicBezTo>
                    <a:pt x="15810" y="1016805"/>
                    <a:pt x="10338" y="1014538"/>
                    <a:pt x="6302" y="1010502"/>
                  </a:cubicBezTo>
                  <a:cubicBezTo>
                    <a:pt x="2267" y="1006467"/>
                    <a:pt x="0" y="1000994"/>
                    <a:pt x="0" y="995287"/>
                  </a:cubicBezTo>
                  <a:lnTo>
                    <a:pt x="0" y="21517"/>
                  </a:lnTo>
                  <a:cubicBezTo>
                    <a:pt x="0" y="15810"/>
                    <a:pt x="2267" y="10338"/>
                    <a:pt x="6302" y="6302"/>
                  </a:cubicBezTo>
                  <a:cubicBezTo>
                    <a:pt x="10338" y="2267"/>
                    <a:pt x="15810" y="0"/>
                    <a:pt x="21517" y="0"/>
                  </a:cubicBezTo>
                  <a:close/>
                </a:path>
              </a:pathLst>
            </a:custGeom>
            <a:blipFill>
              <a:blip r:embed="rId10"/>
              <a:stretch>
                <a:fillRect l="-25077" r="-25077" b="-2048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4360010">
            <a:off x="653554" y="843856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974288">
            <a:off x="9018588" y="9288530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83573" y="781316"/>
            <a:ext cx="141811" cy="14181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09662" y="3105283"/>
            <a:ext cx="5666460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The chart shows that CO-600 has the highest downtime, while products like OR-600 and DC-600 have the lowest.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39778" y="1858183"/>
            <a:ext cx="346940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Downtime by Product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257" y="5996465"/>
            <a:ext cx="6247553" cy="4430083"/>
          </a:xfrm>
          <a:custGeom>
            <a:avLst/>
            <a:gdLst/>
            <a:ahLst/>
            <a:cxnLst/>
            <a:rect l="l" t="t" r="r" b="b"/>
            <a:pathLst>
              <a:path w="6247553" h="4430083">
                <a:moveTo>
                  <a:pt x="0" y="0"/>
                </a:moveTo>
                <a:lnTo>
                  <a:pt x="6247553" y="0"/>
                </a:lnTo>
                <a:lnTo>
                  <a:pt x="6247553" y="4430083"/>
                </a:lnTo>
                <a:lnTo>
                  <a:pt x="0" y="4430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04694" y="-17784"/>
            <a:ext cx="6483306" cy="4533904"/>
          </a:xfrm>
          <a:custGeom>
            <a:avLst/>
            <a:gdLst/>
            <a:ahLst/>
            <a:cxnLst/>
            <a:rect l="l" t="t" r="r" b="b"/>
            <a:pathLst>
              <a:path w="6483306" h="4533904">
                <a:moveTo>
                  <a:pt x="0" y="0"/>
                </a:moveTo>
                <a:lnTo>
                  <a:pt x="6483306" y="0"/>
                </a:lnTo>
                <a:lnTo>
                  <a:pt x="6483306" y="4533904"/>
                </a:lnTo>
                <a:lnTo>
                  <a:pt x="0" y="4533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825716" y="1215361"/>
            <a:ext cx="260405" cy="26040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37441" y="1475765"/>
            <a:ext cx="14613118" cy="8296785"/>
            <a:chOff x="0" y="0"/>
            <a:chExt cx="2263954" cy="12853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63954" cy="1285389"/>
            </a:xfrm>
            <a:custGeom>
              <a:avLst/>
              <a:gdLst/>
              <a:ahLst/>
              <a:cxnLst/>
              <a:rect l="l" t="t" r="r" b="b"/>
              <a:pathLst>
                <a:path w="2263954" h="1285389">
                  <a:moveTo>
                    <a:pt x="15894" y="0"/>
                  </a:moveTo>
                  <a:lnTo>
                    <a:pt x="2248061" y="0"/>
                  </a:lnTo>
                  <a:cubicBezTo>
                    <a:pt x="2252276" y="0"/>
                    <a:pt x="2256319" y="1675"/>
                    <a:pt x="2259299" y="4655"/>
                  </a:cubicBezTo>
                  <a:cubicBezTo>
                    <a:pt x="2262280" y="7636"/>
                    <a:pt x="2263954" y="11678"/>
                    <a:pt x="2263954" y="15894"/>
                  </a:cubicBezTo>
                  <a:lnTo>
                    <a:pt x="2263954" y="1269495"/>
                  </a:lnTo>
                  <a:cubicBezTo>
                    <a:pt x="2263954" y="1273711"/>
                    <a:pt x="2262280" y="1277753"/>
                    <a:pt x="2259299" y="1280734"/>
                  </a:cubicBezTo>
                  <a:cubicBezTo>
                    <a:pt x="2256319" y="1283715"/>
                    <a:pt x="2252276" y="1285389"/>
                    <a:pt x="2248061" y="1285389"/>
                  </a:cubicBezTo>
                  <a:lnTo>
                    <a:pt x="15894" y="1285389"/>
                  </a:lnTo>
                  <a:cubicBezTo>
                    <a:pt x="11678" y="1285389"/>
                    <a:pt x="7636" y="1283715"/>
                    <a:pt x="4655" y="1280734"/>
                  </a:cubicBezTo>
                  <a:cubicBezTo>
                    <a:pt x="1675" y="1277753"/>
                    <a:pt x="0" y="1273711"/>
                    <a:pt x="0" y="1269495"/>
                  </a:cubicBezTo>
                  <a:lnTo>
                    <a:pt x="0" y="15894"/>
                  </a:lnTo>
                  <a:cubicBezTo>
                    <a:pt x="0" y="11678"/>
                    <a:pt x="1675" y="7636"/>
                    <a:pt x="4655" y="4655"/>
                  </a:cubicBezTo>
                  <a:cubicBezTo>
                    <a:pt x="7636" y="1675"/>
                    <a:pt x="11678" y="0"/>
                    <a:pt x="15894" y="0"/>
                  </a:cubicBezTo>
                  <a:close/>
                </a:path>
              </a:pathLst>
            </a:custGeom>
            <a:blipFill>
              <a:blip r:embed="rId6"/>
              <a:stretch>
                <a:fillRect l="-914" r="-914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4360010">
            <a:off x="653554" y="843856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3573" y="781316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151929" y="332130"/>
            <a:ext cx="6658648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 u="none" strike="noStrike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9662" y="1934383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2"/>
                </a:lnTo>
                <a:lnTo>
                  <a:pt x="0" y="495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46184"/>
            <a:ext cx="7183071" cy="6520921"/>
          </a:xfrm>
          <a:custGeom>
            <a:avLst/>
            <a:gdLst/>
            <a:ahLst/>
            <a:cxnLst/>
            <a:rect l="l" t="t" r="r" b="b"/>
            <a:pathLst>
              <a:path w="7183071" h="6520921">
                <a:moveTo>
                  <a:pt x="0" y="0"/>
                </a:moveTo>
                <a:lnTo>
                  <a:pt x="7183071" y="0"/>
                </a:lnTo>
                <a:lnTo>
                  <a:pt x="7183071" y="6520921"/>
                </a:lnTo>
                <a:lnTo>
                  <a:pt x="0" y="6520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51257" y="5996465"/>
            <a:ext cx="6247553" cy="4430083"/>
          </a:xfrm>
          <a:custGeom>
            <a:avLst/>
            <a:gdLst/>
            <a:ahLst/>
            <a:cxnLst/>
            <a:rect l="l" t="t" r="r" b="b"/>
            <a:pathLst>
              <a:path w="6247553" h="4430083">
                <a:moveTo>
                  <a:pt x="0" y="0"/>
                </a:moveTo>
                <a:lnTo>
                  <a:pt x="6247553" y="0"/>
                </a:lnTo>
                <a:lnTo>
                  <a:pt x="6247553" y="4430083"/>
                </a:lnTo>
                <a:lnTo>
                  <a:pt x="0" y="4430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04694" y="-17784"/>
            <a:ext cx="6483306" cy="4533904"/>
          </a:xfrm>
          <a:custGeom>
            <a:avLst/>
            <a:gdLst/>
            <a:ahLst/>
            <a:cxnLst/>
            <a:rect l="l" t="t" r="r" b="b"/>
            <a:pathLst>
              <a:path w="6483306" h="4533904">
                <a:moveTo>
                  <a:pt x="0" y="0"/>
                </a:moveTo>
                <a:lnTo>
                  <a:pt x="6483306" y="0"/>
                </a:lnTo>
                <a:lnTo>
                  <a:pt x="6483306" y="4533904"/>
                </a:lnTo>
                <a:lnTo>
                  <a:pt x="0" y="4533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825716" y="1215361"/>
            <a:ext cx="260405" cy="26040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99574" y="351104"/>
            <a:ext cx="10174758" cy="4711200"/>
            <a:chOff x="0" y="0"/>
            <a:chExt cx="1576336" cy="7298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76336" cy="729888"/>
            </a:xfrm>
            <a:custGeom>
              <a:avLst/>
              <a:gdLst/>
              <a:ahLst/>
              <a:cxnLst/>
              <a:rect l="l" t="t" r="r" b="b"/>
              <a:pathLst>
                <a:path w="1576336" h="729888">
                  <a:moveTo>
                    <a:pt x="22827" y="0"/>
                  </a:moveTo>
                  <a:lnTo>
                    <a:pt x="1553509" y="0"/>
                  </a:lnTo>
                  <a:cubicBezTo>
                    <a:pt x="1566116" y="0"/>
                    <a:pt x="1576336" y="10220"/>
                    <a:pt x="1576336" y="22827"/>
                  </a:cubicBezTo>
                  <a:lnTo>
                    <a:pt x="1576336" y="707061"/>
                  </a:lnTo>
                  <a:cubicBezTo>
                    <a:pt x="1576336" y="713115"/>
                    <a:pt x="1573931" y="718921"/>
                    <a:pt x="1569650" y="723202"/>
                  </a:cubicBezTo>
                  <a:cubicBezTo>
                    <a:pt x="1565370" y="727483"/>
                    <a:pt x="1559563" y="729888"/>
                    <a:pt x="1553509" y="729888"/>
                  </a:cubicBezTo>
                  <a:lnTo>
                    <a:pt x="22827" y="729888"/>
                  </a:lnTo>
                  <a:cubicBezTo>
                    <a:pt x="10220" y="729888"/>
                    <a:pt x="0" y="719668"/>
                    <a:pt x="0" y="707061"/>
                  </a:cubicBezTo>
                  <a:lnTo>
                    <a:pt x="0" y="22827"/>
                  </a:lnTo>
                  <a:cubicBezTo>
                    <a:pt x="0" y="10220"/>
                    <a:pt x="10220" y="0"/>
                    <a:pt x="22827" y="0"/>
                  </a:cubicBezTo>
                  <a:close/>
                </a:path>
              </a:pathLst>
            </a:custGeom>
            <a:blipFill>
              <a:blip r:embed="rId10"/>
              <a:stretch>
                <a:fillRect l="-5214" r="-521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4360010">
            <a:off x="653554" y="843856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974288">
            <a:off x="9018588" y="9288530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83573" y="781316"/>
            <a:ext cx="141811" cy="14181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09662" y="3319636"/>
            <a:ext cx="5567861" cy="320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Higher downtime days match higher production activity, while very low downtime (like September 3) shows minimal batches produced.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39778" y="1858183"/>
            <a:ext cx="415651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Downtime &amp; Batches Produced  by Day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99574" y="5062304"/>
            <a:ext cx="10191261" cy="5068114"/>
            <a:chOff x="0" y="0"/>
            <a:chExt cx="1578893" cy="7851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8893" cy="785183"/>
            </a:xfrm>
            <a:custGeom>
              <a:avLst/>
              <a:gdLst/>
              <a:ahLst/>
              <a:cxnLst/>
              <a:rect l="l" t="t" r="r" b="b"/>
              <a:pathLst>
                <a:path w="1578893" h="785183">
                  <a:moveTo>
                    <a:pt x="22790" y="0"/>
                  </a:moveTo>
                  <a:lnTo>
                    <a:pt x="1556103" y="0"/>
                  </a:lnTo>
                  <a:cubicBezTo>
                    <a:pt x="1562147" y="0"/>
                    <a:pt x="1567944" y="2401"/>
                    <a:pt x="1572218" y="6675"/>
                  </a:cubicBezTo>
                  <a:cubicBezTo>
                    <a:pt x="1576492" y="10949"/>
                    <a:pt x="1578893" y="16746"/>
                    <a:pt x="1578893" y="22790"/>
                  </a:cubicBezTo>
                  <a:lnTo>
                    <a:pt x="1578893" y="762394"/>
                  </a:lnTo>
                  <a:cubicBezTo>
                    <a:pt x="1578893" y="768438"/>
                    <a:pt x="1576492" y="774234"/>
                    <a:pt x="1572218" y="778508"/>
                  </a:cubicBezTo>
                  <a:cubicBezTo>
                    <a:pt x="1567944" y="782782"/>
                    <a:pt x="1562147" y="785183"/>
                    <a:pt x="1556103" y="785183"/>
                  </a:cubicBezTo>
                  <a:lnTo>
                    <a:pt x="22790" y="785183"/>
                  </a:lnTo>
                  <a:cubicBezTo>
                    <a:pt x="16746" y="785183"/>
                    <a:pt x="10949" y="782782"/>
                    <a:pt x="6675" y="778508"/>
                  </a:cubicBezTo>
                  <a:cubicBezTo>
                    <a:pt x="2401" y="774234"/>
                    <a:pt x="0" y="768438"/>
                    <a:pt x="0" y="762394"/>
                  </a:cubicBezTo>
                  <a:lnTo>
                    <a:pt x="0" y="22790"/>
                  </a:lnTo>
                  <a:cubicBezTo>
                    <a:pt x="0" y="16746"/>
                    <a:pt x="2401" y="10949"/>
                    <a:pt x="6675" y="6675"/>
                  </a:cubicBezTo>
                  <a:cubicBezTo>
                    <a:pt x="10949" y="2401"/>
                    <a:pt x="16746" y="0"/>
                    <a:pt x="22790" y="0"/>
                  </a:cubicBezTo>
                  <a:close/>
                </a:path>
              </a:pathLst>
            </a:custGeom>
            <a:blipFill>
              <a:blip r:embed="rId13"/>
              <a:stretch>
                <a:fillRect l="-4750" r="-836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104929" y="3766079"/>
            <a:ext cx="7183071" cy="6520921"/>
          </a:xfrm>
          <a:custGeom>
            <a:avLst/>
            <a:gdLst/>
            <a:ahLst/>
            <a:cxnLst/>
            <a:rect l="l" t="t" r="r" b="b"/>
            <a:pathLst>
              <a:path w="7183071" h="6520921">
                <a:moveTo>
                  <a:pt x="7183071" y="0"/>
                </a:moveTo>
                <a:lnTo>
                  <a:pt x="0" y="0"/>
                </a:lnTo>
                <a:lnTo>
                  <a:pt x="0" y="6520921"/>
                </a:lnTo>
                <a:lnTo>
                  <a:pt x="7183071" y="6520921"/>
                </a:lnTo>
                <a:lnTo>
                  <a:pt x="71830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0"/>
            <a:ext cx="7255974" cy="5067522"/>
          </a:xfrm>
          <a:custGeom>
            <a:avLst/>
            <a:gdLst/>
            <a:ahLst/>
            <a:cxnLst/>
            <a:rect l="l" t="t" r="r" b="b"/>
            <a:pathLst>
              <a:path w="7255974" h="5067522">
                <a:moveTo>
                  <a:pt x="7255974" y="0"/>
                </a:moveTo>
                <a:lnTo>
                  <a:pt x="0" y="0"/>
                </a:lnTo>
                <a:lnTo>
                  <a:pt x="0" y="5067522"/>
                </a:lnTo>
                <a:lnTo>
                  <a:pt x="7255974" y="5067522"/>
                </a:lnTo>
                <a:lnTo>
                  <a:pt x="72559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106" y="-348721"/>
            <a:ext cx="4686884" cy="3613161"/>
          </a:xfrm>
          <a:custGeom>
            <a:avLst/>
            <a:gdLst/>
            <a:ahLst/>
            <a:cxnLst/>
            <a:rect l="l" t="t" r="r" b="b"/>
            <a:pathLst>
              <a:path w="4686884" h="3613161">
                <a:moveTo>
                  <a:pt x="0" y="0"/>
                </a:moveTo>
                <a:lnTo>
                  <a:pt x="4686884" y="0"/>
                </a:lnTo>
                <a:lnTo>
                  <a:pt x="4686884" y="3613161"/>
                </a:lnTo>
                <a:lnTo>
                  <a:pt x="0" y="36131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63169" y="6149701"/>
            <a:ext cx="4620353" cy="4275927"/>
          </a:xfrm>
          <a:custGeom>
            <a:avLst/>
            <a:gdLst/>
            <a:ahLst/>
            <a:cxnLst/>
            <a:rect l="l" t="t" r="r" b="b"/>
            <a:pathLst>
              <a:path w="4620353" h="4275927">
                <a:moveTo>
                  <a:pt x="0" y="0"/>
                </a:moveTo>
                <a:lnTo>
                  <a:pt x="4620353" y="0"/>
                </a:lnTo>
                <a:lnTo>
                  <a:pt x="4620353" y="4275926"/>
                </a:lnTo>
                <a:lnTo>
                  <a:pt x="0" y="42759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21693" y="1848658"/>
            <a:ext cx="8092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Operator errors are the main source of downtime, indicating process instability.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5709" y="828892"/>
            <a:ext cx="6658648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sp>
        <p:nvSpPr>
          <p:cNvPr id="8" name="Freeform 8"/>
          <p:cNvSpPr/>
          <p:nvPr/>
        </p:nvSpPr>
        <p:spPr>
          <a:xfrm rot="4360010">
            <a:off x="8110099" y="1091240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974288">
            <a:off x="9018588" y="9288530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649601" y="2862712"/>
            <a:ext cx="141811" cy="14181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8756" y="9116489"/>
            <a:ext cx="141811" cy="1418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129098" y="2311805"/>
            <a:ext cx="260405" cy="26040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267473" y="582828"/>
            <a:ext cx="141811" cy="1418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809662" y="1934383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2"/>
                </a:lnTo>
                <a:lnTo>
                  <a:pt x="0" y="4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09662" y="3264440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3"/>
                </a:lnTo>
                <a:lnTo>
                  <a:pt x="0" y="4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09662" y="4638304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3"/>
                </a:lnTo>
                <a:lnTo>
                  <a:pt x="0" y="4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80754" y="5972397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3"/>
                </a:lnTo>
                <a:lnTo>
                  <a:pt x="0" y="4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09662" y="7182665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2"/>
                </a:lnTo>
                <a:lnTo>
                  <a:pt x="0" y="4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09662" y="8418644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2" y="0"/>
                </a:lnTo>
                <a:lnTo>
                  <a:pt x="495892" y="495893"/>
                </a:lnTo>
                <a:lnTo>
                  <a:pt x="0" y="4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9614293" y="1438464"/>
            <a:ext cx="6655096" cy="7256931"/>
            <a:chOff x="0" y="0"/>
            <a:chExt cx="901327" cy="98283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01327" cy="982836"/>
            </a:xfrm>
            <a:custGeom>
              <a:avLst/>
              <a:gdLst/>
              <a:ahLst/>
              <a:cxnLst/>
              <a:rect l="l" t="t" r="r" b="b"/>
              <a:pathLst>
                <a:path w="901327" h="982836">
                  <a:moveTo>
                    <a:pt x="58165" y="0"/>
                  </a:moveTo>
                  <a:lnTo>
                    <a:pt x="843162" y="0"/>
                  </a:lnTo>
                  <a:cubicBezTo>
                    <a:pt x="875286" y="0"/>
                    <a:pt x="901327" y="26042"/>
                    <a:pt x="901327" y="58165"/>
                  </a:cubicBezTo>
                  <a:lnTo>
                    <a:pt x="901327" y="924671"/>
                  </a:lnTo>
                  <a:cubicBezTo>
                    <a:pt x="901327" y="956795"/>
                    <a:pt x="875286" y="982836"/>
                    <a:pt x="843162" y="982836"/>
                  </a:cubicBezTo>
                  <a:lnTo>
                    <a:pt x="58165" y="982836"/>
                  </a:lnTo>
                  <a:cubicBezTo>
                    <a:pt x="26042" y="982836"/>
                    <a:pt x="0" y="956795"/>
                    <a:pt x="0" y="924671"/>
                  </a:cubicBezTo>
                  <a:lnTo>
                    <a:pt x="0" y="58165"/>
                  </a:lnTo>
                  <a:cubicBezTo>
                    <a:pt x="0" y="26042"/>
                    <a:pt x="26042" y="0"/>
                    <a:pt x="58165" y="0"/>
                  </a:cubicBezTo>
                  <a:close/>
                </a:path>
              </a:pathLst>
            </a:custGeom>
            <a:blipFill>
              <a:blip r:embed="rId14"/>
              <a:stretch>
                <a:fillRect l="-13016" r="-5054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521693" y="3152404"/>
            <a:ext cx="8092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Total downtime (23h) reflects significant productivity loss.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1693" y="4485904"/>
            <a:ext cx="8092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Frequent interruptions show a system-wide performance issue.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1693" y="5819404"/>
            <a:ext cx="8092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Machine failures remain a key technical bottleneck.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21693" y="7097532"/>
            <a:ext cx="8092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CO-600 is the most affected product, creating concentrated inefficiency.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21693" y="8333512"/>
            <a:ext cx="8092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Large daily fluctuations reduce consistency and predictability.</a:t>
            </a:r>
          </a:p>
        </p:txBody>
      </p:sp>
    </p:spTree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353598" y="4466663"/>
            <a:ext cx="6173936" cy="5466739"/>
          </a:xfrm>
          <a:custGeom>
            <a:avLst/>
            <a:gdLst/>
            <a:ahLst/>
            <a:cxnLst/>
            <a:rect l="l" t="t" r="r" b="b"/>
            <a:pathLst>
              <a:path w="6173936" h="5466739">
                <a:moveTo>
                  <a:pt x="6173935" y="5466739"/>
                </a:moveTo>
                <a:lnTo>
                  <a:pt x="0" y="5466739"/>
                </a:lnTo>
                <a:lnTo>
                  <a:pt x="0" y="0"/>
                </a:lnTo>
                <a:lnTo>
                  <a:pt x="6173935" y="0"/>
                </a:lnTo>
                <a:lnTo>
                  <a:pt x="6173935" y="54667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2467663" y="353598"/>
            <a:ext cx="6173936" cy="5466739"/>
          </a:xfrm>
          <a:custGeom>
            <a:avLst/>
            <a:gdLst/>
            <a:ahLst/>
            <a:cxnLst/>
            <a:rect l="l" t="t" r="r" b="b"/>
            <a:pathLst>
              <a:path w="6173936" h="5466739">
                <a:moveTo>
                  <a:pt x="0" y="0"/>
                </a:moveTo>
                <a:lnTo>
                  <a:pt x="6173935" y="0"/>
                </a:lnTo>
                <a:lnTo>
                  <a:pt x="6173935" y="5466739"/>
                </a:lnTo>
                <a:lnTo>
                  <a:pt x="0" y="5466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41790" y="5580179"/>
            <a:ext cx="5297080" cy="4902207"/>
          </a:xfrm>
          <a:custGeom>
            <a:avLst/>
            <a:gdLst/>
            <a:ahLst/>
            <a:cxnLst/>
            <a:rect l="l" t="t" r="r" b="b"/>
            <a:pathLst>
              <a:path w="5297080" h="4902207">
                <a:moveTo>
                  <a:pt x="5297080" y="0"/>
                </a:moveTo>
                <a:lnTo>
                  <a:pt x="0" y="0"/>
                </a:lnTo>
                <a:lnTo>
                  <a:pt x="0" y="4902207"/>
                </a:lnTo>
                <a:lnTo>
                  <a:pt x="5297080" y="4902207"/>
                </a:lnTo>
                <a:lnTo>
                  <a:pt x="52970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224873">
            <a:off x="6768873" y="913092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6"/>
                </a:lnTo>
                <a:lnTo>
                  <a:pt x="0" y="439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70511" y="1334463"/>
            <a:ext cx="6120166" cy="7491843"/>
            <a:chOff x="0" y="0"/>
            <a:chExt cx="929881" cy="1138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9881" cy="1138290"/>
            </a:xfrm>
            <a:custGeom>
              <a:avLst/>
              <a:gdLst/>
              <a:ahLst/>
              <a:cxnLst/>
              <a:rect l="l" t="t" r="r" b="b"/>
              <a:pathLst>
                <a:path w="929881" h="1138290">
                  <a:moveTo>
                    <a:pt x="65779" y="0"/>
                  </a:moveTo>
                  <a:lnTo>
                    <a:pt x="864102" y="0"/>
                  </a:lnTo>
                  <a:cubicBezTo>
                    <a:pt x="900431" y="0"/>
                    <a:pt x="929881" y="29450"/>
                    <a:pt x="929881" y="65779"/>
                  </a:cubicBezTo>
                  <a:lnTo>
                    <a:pt x="929881" y="1072511"/>
                  </a:lnTo>
                  <a:cubicBezTo>
                    <a:pt x="929881" y="1108840"/>
                    <a:pt x="900431" y="1138290"/>
                    <a:pt x="864102" y="1138290"/>
                  </a:cubicBezTo>
                  <a:lnTo>
                    <a:pt x="65779" y="1138290"/>
                  </a:lnTo>
                  <a:cubicBezTo>
                    <a:pt x="29450" y="1138290"/>
                    <a:pt x="0" y="1108840"/>
                    <a:pt x="0" y="1072511"/>
                  </a:cubicBezTo>
                  <a:lnTo>
                    <a:pt x="0" y="65779"/>
                  </a:lnTo>
                  <a:cubicBezTo>
                    <a:pt x="0" y="29450"/>
                    <a:pt x="29450" y="0"/>
                    <a:pt x="65779" y="0"/>
                  </a:cubicBezTo>
                  <a:close/>
                </a:path>
              </a:pathLst>
            </a:custGeom>
            <a:blipFill>
              <a:blip r:embed="rId8"/>
              <a:stretch>
                <a:fillRect l="-62304" r="-62304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407147" y="-110564"/>
            <a:ext cx="5376594" cy="5537690"/>
          </a:xfrm>
          <a:custGeom>
            <a:avLst/>
            <a:gdLst/>
            <a:ahLst/>
            <a:cxnLst/>
            <a:rect l="l" t="t" r="r" b="b"/>
            <a:pathLst>
              <a:path w="5376594" h="5537690">
                <a:moveTo>
                  <a:pt x="0" y="0"/>
                </a:moveTo>
                <a:lnTo>
                  <a:pt x="5376594" y="0"/>
                </a:lnTo>
                <a:lnTo>
                  <a:pt x="5376594" y="5537690"/>
                </a:lnTo>
                <a:lnTo>
                  <a:pt x="0" y="55376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650653" y="1818875"/>
            <a:ext cx="916175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Eliminate operator-related errors by enforcing strict training, clear SOPs, and continuous performance monitoring.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51342" y="503390"/>
            <a:ext cx="806505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 u="none" strike="noStrike" dirty="0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Recommendations</a:t>
            </a:r>
          </a:p>
        </p:txBody>
      </p:sp>
      <p:sp>
        <p:nvSpPr>
          <p:cNvPr id="11" name="Freeform 11"/>
          <p:cNvSpPr/>
          <p:nvPr/>
        </p:nvSpPr>
        <p:spPr>
          <a:xfrm rot="-974288">
            <a:off x="17125493" y="9053672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3" y="0"/>
                </a:lnTo>
                <a:lnTo>
                  <a:pt x="250823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890709" y="4667099"/>
            <a:ext cx="141811" cy="14181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1263557"/>
            <a:ext cx="141811" cy="1418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791027" y="4972667"/>
            <a:ext cx="341666" cy="34166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7927676" y="1904600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3" y="0"/>
                </a:lnTo>
                <a:lnTo>
                  <a:pt x="495893" y="495893"/>
                </a:lnTo>
                <a:lnTo>
                  <a:pt x="0" y="4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927676" y="3617172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3" y="0"/>
                </a:lnTo>
                <a:lnTo>
                  <a:pt x="495893" y="495892"/>
                </a:lnTo>
                <a:lnTo>
                  <a:pt x="0" y="4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650653" y="3531447"/>
            <a:ext cx="916175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Adopt a preventive maintenance strategy to reduce machine failures and ensure consistent line availability.</a:t>
            </a:r>
          </a:p>
        </p:txBody>
      </p:sp>
      <p:sp>
        <p:nvSpPr>
          <p:cNvPr id="24" name="Freeform 24"/>
          <p:cNvSpPr/>
          <p:nvPr/>
        </p:nvSpPr>
        <p:spPr>
          <a:xfrm>
            <a:off x="7927676" y="5427126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3" y="0"/>
                </a:lnTo>
                <a:lnTo>
                  <a:pt x="495893" y="495893"/>
                </a:lnTo>
                <a:lnTo>
                  <a:pt x="0" y="4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650653" y="5228608"/>
            <a:ext cx="916175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Stabilize the production workflow through standardized processes, better scheduling, and tighter control over daily operations.</a:t>
            </a:r>
          </a:p>
        </p:txBody>
      </p:sp>
      <p:sp>
        <p:nvSpPr>
          <p:cNvPr id="26" name="Freeform 26"/>
          <p:cNvSpPr/>
          <p:nvPr/>
        </p:nvSpPr>
        <p:spPr>
          <a:xfrm>
            <a:off x="7927676" y="7009783"/>
            <a:ext cx="495893" cy="495893"/>
          </a:xfrm>
          <a:custGeom>
            <a:avLst/>
            <a:gdLst/>
            <a:ahLst/>
            <a:cxnLst/>
            <a:rect l="l" t="t" r="r" b="b"/>
            <a:pathLst>
              <a:path w="495893" h="495893">
                <a:moveTo>
                  <a:pt x="0" y="0"/>
                </a:moveTo>
                <a:lnTo>
                  <a:pt x="495893" y="0"/>
                </a:lnTo>
                <a:lnTo>
                  <a:pt x="495893" y="495893"/>
                </a:lnTo>
                <a:lnTo>
                  <a:pt x="0" y="4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650653" y="6924058"/>
            <a:ext cx="9161757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Prioritize optimization of the CO-600 line, as it creates the largest productivity loss, requiring focused root-cause analysis and corrective action.</a:t>
            </a:r>
          </a:p>
        </p:txBody>
      </p:sp>
    </p:spTree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287559" y="4696854"/>
            <a:ext cx="7613739" cy="5628697"/>
          </a:xfrm>
          <a:custGeom>
            <a:avLst/>
            <a:gdLst/>
            <a:ahLst/>
            <a:cxnLst/>
            <a:rect l="l" t="t" r="r" b="b"/>
            <a:pathLst>
              <a:path w="7613739" h="5628697">
                <a:moveTo>
                  <a:pt x="0" y="5628697"/>
                </a:moveTo>
                <a:lnTo>
                  <a:pt x="7613739" y="5628697"/>
                </a:lnTo>
                <a:lnTo>
                  <a:pt x="7613739" y="0"/>
                </a:lnTo>
                <a:lnTo>
                  <a:pt x="0" y="0"/>
                </a:lnTo>
                <a:lnTo>
                  <a:pt x="0" y="56286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338535">
            <a:off x="14100050" y="-508789"/>
            <a:ext cx="3883552" cy="4546345"/>
          </a:xfrm>
          <a:custGeom>
            <a:avLst/>
            <a:gdLst/>
            <a:ahLst/>
            <a:cxnLst/>
            <a:rect l="l" t="t" r="r" b="b"/>
            <a:pathLst>
              <a:path w="3883552" h="4546345">
                <a:moveTo>
                  <a:pt x="0" y="0"/>
                </a:moveTo>
                <a:lnTo>
                  <a:pt x="3883552" y="0"/>
                </a:lnTo>
                <a:lnTo>
                  <a:pt x="3883552" y="4546345"/>
                </a:lnTo>
                <a:lnTo>
                  <a:pt x="0" y="4546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54862">
            <a:off x="231407" y="6088691"/>
            <a:ext cx="6247553" cy="4430083"/>
          </a:xfrm>
          <a:custGeom>
            <a:avLst/>
            <a:gdLst/>
            <a:ahLst/>
            <a:cxnLst/>
            <a:rect l="l" t="t" r="r" b="b"/>
            <a:pathLst>
              <a:path w="6247553" h="4430083">
                <a:moveTo>
                  <a:pt x="0" y="0"/>
                </a:moveTo>
                <a:lnTo>
                  <a:pt x="6247553" y="0"/>
                </a:lnTo>
                <a:lnTo>
                  <a:pt x="6247553" y="4430083"/>
                </a:lnTo>
                <a:lnTo>
                  <a:pt x="0" y="4430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297856">
            <a:off x="13363366" y="-1446338"/>
            <a:ext cx="4446248" cy="4114800"/>
          </a:xfrm>
          <a:custGeom>
            <a:avLst/>
            <a:gdLst/>
            <a:ahLst/>
            <a:cxnLst/>
            <a:rect l="l" t="t" r="r" b="b"/>
            <a:pathLst>
              <a:path w="4446248" h="4114800">
                <a:moveTo>
                  <a:pt x="0" y="0"/>
                </a:moveTo>
                <a:lnTo>
                  <a:pt x="4446247" y="0"/>
                </a:lnTo>
                <a:lnTo>
                  <a:pt x="4446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95068" y="1600448"/>
            <a:ext cx="6987981" cy="4524085"/>
            <a:chOff x="0" y="0"/>
            <a:chExt cx="946411" cy="6127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6411" cy="612716"/>
            </a:xfrm>
            <a:custGeom>
              <a:avLst/>
              <a:gdLst/>
              <a:ahLst/>
              <a:cxnLst/>
              <a:rect l="l" t="t" r="r" b="b"/>
              <a:pathLst>
                <a:path w="946411" h="612716">
                  <a:moveTo>
                    <a:pt x="27697" y="0"/>
                  </a:moveTo>
                  <a:lnTo>
                    <a:pt x="918714" y="0"/>
                  </a:lnTo>
                  <a:cubicBezTo>
                    <a:pt x="926060" y="0"/>
                    <a:pt x="933105" y="2918"/>
                    <a:pt x="938299" y="8112"/>
                  </a:cubicBezTo>
                  <a:cubicBezTo>
                    <a:pt x="943493" y="13307"/>
                    <a:pt x="946411" y="20351"/>
                    <a:pt x="946411" y="27697"/>
                  </a:cubicBezTo>
                  <a:lnTo>
                    <a:pt x="946411" y="585018"/>
                  </a:lnTo>
                  <a:cubicBezTo>
                    <a:pt x="946411" y="592364"/>
                    <a:pt x="943493" y="599409"/>
                    <a:pt x="938299" y="604603"/>
                  </a:cubicBezTo>
                  <a:cubicBezTo>
                    <a:pt x="933105" y="609797"/>
                    <a:pt x="926060" y="612716"/>
                    <a:pt x="918714" y="612716"/>
                  </a:cubicBezTo>
                  <a:lnTo>
                    <a:pt x="27697" y="612716"/>
                  </a:lnTo>
                  <a:cubicBezTo>
                    <a:pt x="20351" y="612716"/>
                    <a:pt x="13307" y="609797"/>
                    <a:pt x="8112" y="604603"/>
                  </a:cubicBezTo>
                  <a:cubicBezTo>
                    <a:pt x="2918" y="599409"/>
                    <a:pt x="0" y="592364"/>
                    <a:pt x="0" y="585018"/>
                  </a:cubicBezTo>
                  <a:lnTo>
                    <a:pt x="0" y="27697"/>
                  </a:lnTo>
                  <a:cubicBezTo>
                    <a:pt x="0" y="20351"/>
                    <a:pt x="2918" y="13307"/>
                    <a:pt x="8112" y="8112"/>
                  </a:cubicBezTo>
                  <a:cubicBezTo>
                    <a:pt x="13307" y="2918"/>
                    <a:pt x="20351" y="0"/>
                    <a:pt x="27697" y="0"/>
                  </a:cubicBezTo>
                  <a:close/>
                </a:path>
              </a:pathLst>
            </a:custGeom>
            <a:blipFill>
              <a:blip r:embed="rId10"/>
              <a:stretch>
                <a:fillRect t="-7858" b="-785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8" name="Freeform 8"/>
          <p:cNvSpPr/>
          <p:nvPr/>
        </p:nvSpPr>
        <p:spPr>
          <a:xfrm rot="938244">
            <a:off x="16925321" y="6965548"/>
            <a:ext cx="454026" cy="439167"/>
          </a:xfrm>
          <a:custGeom>
            <a:avLst/>
            <a:gdLst/>
            <a:ahLst/>
            <a:cxnLst/>
            <a:rect l="l" t="t" r="r" b="b"/>
            <a:pathLst>
              <a:path w="454026" h="439167">
                <a:moveTo>
                  <a:pt x="0" y="0"/>
                </a:moveTo>
                <a:lnTo>
                  <a:pt x="454026" y="0"/>
                </a:lnTo>
                <a:lnTo>
                  <a:pt x="454026" y="439167"/>
                </a:lnTo>
                <a:lnTo>
                  <a:pt x="0" y="439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974288">
            <a:off x="577890" y="3613151"/>
            <a:ext cx="250824" cy="242615"/>
          </a:xfrm>
          <a:custGeom>
            <a:avLst/>
            <a:gdLst/>
            <a:ahLst/>
            <a:cxnLst/>
            <a:rect l="l" t="t" r="r" b="b"/>
            <a:pathLst>
              <a:path w="250824" h="242615">
                <a:moveTo>
                  <a:pt x="0" y="0"/>
                </a:moveTo>
                <a:lnTo>
                  <a:pt x="250824" y="0"/>
                </a:lnTo>
                <a:lnTo>
                  <a:pt x="250824" y="242615"/>
                </a:lnTo>
                <a:lnTo>
                  <a:pt x="0" y="2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418559" y="6698809"/>
            <a:ext cx="141811" cy="14181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44964" y="6769715"/>
            <a:ext cx="341666" cy="34166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596821" y="9258300"/>
            <a:ext cx="141811" cy="14181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396" y="790089"/>
            <a:ext cx="141811" cy="1418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299931" y="4364254"/>
            <a:ext cx="260405" cy="26040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CEE6F9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674119" y="2621391"/>
            <a:ext cx="141811" cy="14181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6F9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654411" y="3652940"/>
            <a:ext cx="7118555" cy="352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9"/>
              </a:lnSpc>
            </a:pPr>
            <a:r>
              <a:rPr lang="en-US" sz="7299" b="1" u="none" strike="noStrike" dirty="0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 </a:t>
            </a:r>
          </a:p>
          <a:p>
            <a:pPr marL="0" lvl="0" indent="0" algn="l">
              <a:lnSpc>
                <a:spcPts val="8759"/>
              </a:lnSpc>
            </a:pPr>
            <a:r>
              <a:rPr lang="en-US" sz="7299" b="1" u="none" strike="noStrike" dirty="0">
                <a:solidFill>
                  <a:srgbClr val="456ED5"/>
                </a:solidFill>
                <a:latin typeface="Agrandir Bold"/>
                <a:ea typeface="Agrandir Bold"/>
                <a:cs typeface="Agrandir Bold"/>
                <a:sym typeface="Agrandir Bold"/>
              </a:rPr>
              <a:t>for Listening.</a:t>
            </a:r>
          </a:p>
          <a:p>
            <a:pPr marL="0" lvl="0" indent="0" algn="l">
              <a:lnSpc>
                <a:spcPts val="8759"/>
              </a:lnSpc>
            </a:pPr>
            <a:endParaRPr lang="en-US" sz="7299" b="1" u="none" strike="noStrike" dirty="0">
              <a:solidFill>
                <a:srgbClr val="456ED5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335</Words>
  <Application>Microsoft Office PowerPoint</Application>
  <PresentationFormat>Custom</PresentationFormat>
  <Paragraphs>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Poppins</vt:lpstr>
      <vt:lpstr>Arial</vt:lpstr>
      <vt:lpstr>Agrandir Bold</vt:lpstr>
      <vt:lpstr>Calibri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and Yellow Modern Logistics Pitch Deck Presentation</dc:title>
  <cp:lastModifiedBy>Hanan Abdulrazeq</cp:lastModifiedBy>
  <cp:revision>4</cp:revision>
  <dcterms:created xsi:type="dcterms:W3CDTF">2006-08-16T00:00:00Z</dcterms:created>
  <dcterms:modified xsi:type="dcterms:W3CDTF">2025-12-08T12:01:51Z</dcterms:modified>
  <dc:identifier>DAG5pnVwf8s</dc:identifier>
</cp:coreProperties>
</file>